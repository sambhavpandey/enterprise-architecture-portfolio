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58" r:id="rId3"/>
    <p:sldId id="271" r:id="rId4"/>
    <p:sldId id="285" r:id="rId5"/>
    <p:sldId id="286" r:id="rId6"/>
    <p:sldId id="287" r:id="rId7"/>
    <p:sldId id="288" r:id="rId8"/>
    <p:sldId id="289" r:id="rId9"/>
    <p:sldId id="290" r:id="rId10"/>
    <p:sldId id="269" r:id="rId11"/>
    <p:sldId id="273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67" autoAdjust="0"/>
  </p:normalViewPr>
  <p:slideViewPr>
    <p:cSldViewPr>
      <p:cViewPr varScale="1">
        <p:scale>
          <a:sx n="70" d="100"/>
          <a:sy n="70" d="100"/>
        </p:scale>
        <p:origin x="442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9676C-58D6-4E85-98D4-5B99979E86F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6EE2E-1B85-4C32-B67C-B2629FD83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89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Sets context. Signals this is </a:t>
            </a:r>
            <a:r>
              <a:rPr lang="en-US" b="1" dirty="0"/>
              <a:t>not an IT inventory</a:t>
            </a:r>
            <a:r>
              <a:rPr lang="en-US" dirty="0"/>
              <a:t>, but a business architecture artefact.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97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Pre-empts confusion between activities, tools, and capabilities.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5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D2B61-3EAF-2B3F-6C8A-90C4628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D40F2-1933-E4DA-9BD5-9DBA8BC6D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0F28C-76DB-71AD-3700-79FFEFC02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</a:t>
            </a:r>
            <a:r>
              <a:rPr lang="en-US" b="1" dirty="0"/>
              <a:t>one-glance executive view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B766-9758-763B-4E04-FE9BEA289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0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9590-F301-2C8E-F1F2-3744EBC1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BFD32-6FD9-9410-0394-6DB0555FD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CC520-93BA-E533-5B72-C7616BBC9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cloud as a </a:t>
            </a:r>
            <a:r>
              <a:rPr lang="en-US" b="1" dirty="0"/>
              <a:t>governed business initiative</a:t>
            </a:r>
            <a:r>
              <a:rPr lang="en-US" dirty="0"/>
              <a:t>, not ad-hoc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D063-EA11-AFC5-9A09-9278FBA91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55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9E4A-074E-DF89-E335-2DC48299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9C98B-2755-33F5-0D33-301E4F0A5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D8B95-E9B3-3644-8365-430BCE1B5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business demand to execution without naming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CC08-153F-59A3-7C43-7C57BF903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0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6105-6E6D-7B21-85BF-B0F06DEE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87BDC-ED2F-CA6A-32BD-020684AF1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17656-B984-D59E-E9D5-F1A598E93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maturity beyond “go-live” — very important in interviews.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51D25-EE41-C0EB-161D-292411838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161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5F46-2C43-D0B6-0CEF-A2365124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3AB60-4FF7-2B9E-B37C-AEF63B804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D37E2-CC8A-AC17-E63E-44A1D4E60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enterprise-scale thinking, not app-level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179C3-4F18-C9FA-DF23-5E2C9FAF8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0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AE27-F5A5-CFAB-5F48-2FA13A27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B2534-48EC-BEDF-45AF-63C0D7EDD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6859B-648B-A18A-7EA2-B1C3D70E7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shows </a:t>
            </a:r>
            <a:r>
              <a:rPr lang="en-US" b="1" dirty="0"/>
              <a:t>future-readiness</a:t>
            </a:r>
            <a:r>
              <a:rPr lang="en-US" dirty="0"/>
              <a:t>, not just migration.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DF4F9-0EBA-5BD5-E434-ECBDFC55D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79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It proves strategic alignment.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05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Answers the unspoken executive question: </a:t>
            </a:r>
            <a:r>
              <a:rPr lang="en-US" i="1" dirty="0"/>
              <a:t>“So what?”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79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Clean handoff to the next artefact.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6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790131" y="5651466"/>
            <a:ext cx="2019249" cy="1537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002280" y="21336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584454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400" dirty="0">
                <a:solidFill>
                  <a:schemeClr val="bg1"/>
                </a:solidFill>
              </a:rPr>
              <a:t>Business Capability Map 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 fontScale="92500"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Foundational capabilities required to execute enterprise cloud transformation</a:t>
            </a:r>
            <a:endParaRPr lang="en-IN" sz="3200" dirty="0">
              <a:solidFill>
                <a:srgbClr val="FFFF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Disclaimer: </a:t>
            </a:r>
            <a:r>
              <a:rPr lang="en-US" sz="1600" dirty="0"/>
              <a:t> Fictional enterprise case study for portfolio demonstration</a:t>
            </a:r>
          </a:p>
        </p:txBody>
      </p:sp>
      <p:pic>
        <p:nvPicPr>
          <p:cNvPr id="1032" name="Picture 8" descr="Hamburger, Value Stream Mapping, Lean ...">
            <a:extLst>
              <a:ext uri="{FF2B5EF4-FFF2-40B4-BE49-F238E27FC236}">
                <a16:creationId xmlns:a16="http://schemas.microsoft.com/office/drawing/2014/main" id="{A0AF2336-9170-841B-2E6E-8E45980FF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000" y="-531000"/>
            <a:ext cx="203835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989001"/>
            <a:ext cx="5592148" cy="428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Identify what Northstar Digital Group must be good at to enable cloud transformation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Provide a stable, business-oriented view independent of tools or vendors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 alignment between strategy, value streams, operating model, and roadmap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Support prioritization and investment decisions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Purpose of the Business Capability Map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43D638-9B28-057B-F5F3-4F7B91638DA3}"/>
              </a:ext>
            </a:extLst>
          </p:cNvPr>
          <p:cNvSpPr txBox="1">
            <a:spLocks/>
          </p:cNvSpPr>
          <p:nvPr/>
        </p:nvSpPr>
        <p:spPr>
          <a:xfrm>
            <a:off x="6456000" y="1989000"/>
            <a:ext cx="5040000" cy="4283373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Capabilities describe enduring business abilities, not projects or technologies.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02427-728A-764D-D95B-06EA31366B58}"/>
              </a:ext>
            </a:extLst>
          </p:cNvPr>
          <p:cNvSpPr txBox="1"/>
          <p:nvPr/>
        </p:nvSpPr>
        <p:spPr>
          <a:xfrm>
            <a:off x="503852" y="1239129"/>
            <a:ext cx="5592148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Purpose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F51A8-A199-59FF-EC0E-B97FC44C2290}"/>
              </a:ext>
            </a:extLst>
          </p:cNvPr>
          <p:cNvSpPr txBox="1"/>
          <p:nvPr/>
        </p:nvSpPr>
        <p:spPr>
          <a:xfrm>
            <a:off x="6456000" y="1239129"/>
            <a:ext cx="50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Principle</a:t>
            </a:r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775C5-EFCB-7D2F-B47C-142B740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3FEE-828E-F4C1-7CA1-45A9E4AC1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2349000"/>
            <a:ext cx="7392148" cy="392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</a:rPr>
              <a:t>Level 1</a:t>
            </a:r>
            <a:r>
              <a:rPr lang="en-US" sz="1800" dirty="0">
                <a:solidFill>
                  <a:schemeClr val="tx1"/>
                </a:solidFill>
              </a:rPr>
              <a:t>: major business ability domains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</a:rPr>
              <a:t>Level 2</a:t>
            </a:r>
            <a:r>
              <a:rPr lang="en-US" sz="1800" dirty="0">
                <a:solidFill>
                  <a:schemeClr val="tx1"/>
                </a:solidFill>
              </a:rPr>
              <a:t>: actionable decomposition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Capabilities are, stable, business-owned and technology-agnostic</a:t>
            </a:r>
          </a:p>
          <a:p>
            <a:pPr lvl="2"/>
            <a:endParaRPr lang="en-US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2C9834D-DB0F-0C12-E1B2-F284FFA55179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How to Read </a:t>
            </a:r>
            <a:r>
              <a:rPr lang="en-US" sz="3200" b="1"/>
              <a:t>This Capability </a:t>
            </a:r>
            <a:r>
              <a:rPr lang="en-US" sz="3200" b="1" dirty="0"/>
              <a:t>Map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41D753-7175-B9E2-69A4-1BF73E3EF941}"/>
              </a:ext>
            </a:extLst>
          </p:cNvPr>
          <p:cNvSpPr txBox="1">
            <a:spLocks/>
          </p:cNvSpPr>
          <p:nvPr/>
        </p:nvSpPr>
        <p:spPr>
          <a:xfrm>
            <a:off x="8256000" y="2349000"/>
            <a:ext cx="3240000" cy="3923373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Focused on capabilities required to support enterprise cloud transformation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AF2E9-5312-6BB8-A8BA-3F1F45DF6C4E}"/>
              </a:ext>
            </a:extLst>
          </p:cNvPr>
          <p:cNvSpPr txBox="1"/>
          <p:nvPr/>
        </p:nvSpPr>
        <p:spPr>
          <a:xfrm>
            <a:off x="503853" y="1566342"/>
            <a:ext cx="7392148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Capability Modeling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B9649-DCEF-9F99-6DCC-80D687CF24FE}"/>
              </a:ext>
            </a:extLst>
          </p:cNvPr>
          <p:cNvSpPr txBox="1"/>
          <p:nvPr/>
        </p:nvSpPr>
        <p:spPr>
          <a:xfrm>
            <a:off x="8256000" y="1566342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178390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85322-6C28-722D-1E61-2BFB0B7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04EC-994B-ED16-20C1-45D514C2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216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Cloud Strategy and Governance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5B9C895-0EB8-DA1D-42C3-15612978BDFD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Level 1 Capability Domains (Cloud Transformation)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37B16-B2F7-BB75-E9E8-6C4009766275}"/>
              </a:ext>
            </a:extLst>
          </p:cNvPr>
          <p:cNvSpPr txBox="1"/>
          <p:nvPr/>
        </p:nvSpPr>
        <p:spPr>
          <a:xfrm>
            <a:off x="696000" y="5589000"/>
            <a:ext cx="93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These capability domains collectively enable cloud-driven business outcomes.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48270-C189-C3AE-92B2-240480EEA0AC}"/>
              </a:ext>
            </a:extLst>
          </p:cNvPr>
          <p:cNvSpPr txBox="1"/>
          <p:nvPr/>
        </p:nvSpPr>
        <p:spPr>
          <a:xfrm>
            <a:off x="696000" y="1629000"/>
            <a:ext cx="10800000" cy="646121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Five core </a:t>
            </a:r>
            <a:r>
              <a:rPr lang="en-US"/>
              <a:t>capability domains</a:t>
            </a:r>
            <a:r>
              <a:rPr lang="en-US" dirty="0"/>
              <a:t> to enable cloud transformation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0B78EB-7CDA-11D5-7760-99806E499792}"/>
              </a:ext>
            </a:extLst>
          </p:cNvPr>
          <p:cNvSpPr txBox="1">
            <a:spLocks/>
          </p:cNvSpPr>
          <p:nvPr/>
        </p:nvSpPr>
        <p:spPr>
          <a:xfrm>
            <a:off x="7536000" y="2349000"/>
            <a:ext cx="180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Cloud Operations and Optimization</a:t>
            </a:r>
          </a:p>
          <a:p>
            <a:pPr lvl="1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4E076E-12CD-BBF0-2A80-2BADEC2BB7BC}"/>
              </a:ext>
            </a:extLst>
          </p:cNvPr>
          <p:cNvSpPr txBox="1">
            <a:spLocks/>
          </p:cNvSpPr>
          <p:nvPr/>
        </p:nvSpPr>
        <p:spPr>
          <a:xfrm>
            <a:off x="3216000" y="2349000"/>
            <a:ext cx="180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Cloud Delivery Enablement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98191-0340-64BB-9206-8D812B81C9E5}"/>
              </a:ext>
            </a:extLst>
          </p:cNvPr>
          <p:cNvSpPr txBox="1">
            <a:spLocks/>
          </p:cNvSpPr>
          <p:nvPr/>
        </p:nvSpPr>
        <p:spPr>
          <a:xfrm>
            <a:off x="5376000" y="2349000"/>
            <a:ext cx="180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Security, Risk, and Compliance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8123BF5-F624-5CA8-2216-BBD3EEE73BC8}"/>
              </a:ext>
            </a:extLst>
          </p:cNvPr>
          <p:cNvSpPr txBox="1">
            <a:spLocks/>
          </p:cNvSpPr>
          <p:nvPr/>
        </p:nvSpPr>
        <p:spPr>
          <a:xfrm>
            <a:off x="9696000" y="2349000"/>
            <a:ext cx="180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Innovation and Digital Enablement</a:t>
            </a:r>
          </a:p>
        </p:txBody>
      </p:sp>
    </p:spTree>
    <p:extLst>
      <p:ext uri="{BB962C8B-B14F-4D97-AF65-F5344CB8AC3E}">
        <p14:creationId xmlns:p14="http://schemas.microsoft.com/office/powerpoint/2010/main" val="169970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59E9F-AB4C-3C90-8063-8219954B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EF89-0B54-2A4F-557E-A3DE72A2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709000"/>
            <a:ext cx="1116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Cloud Strategy and Governance - Level 2 Capabilities: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Cloud strategy definition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Portfolio prioritization and investment governance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Financial governance and cost accountability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Policy and standards management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Vendor and service governance</a:t>
            </a:r>
          </a:p>
          <a:p>
            <a:endParaRPr lang="en-US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7026062-B0EC-DD10-48E4-3E2DF3A69273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Capability Domain 1 – Cloud Strategy and Governance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1A350-3C00-3A4B-7603-63AE96240916}"/>
              </a:ext>
            </a:extLst>
          </p:cNvPr>
          <p:cNvSpPr txBox="1"/>
          <p:nvPr/>
        </p:nvSpPr>
        <p:spPr>
          <a:xfrm>
            <a:off x="336000" y="1629000"/>
            <a:ext cx="1116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None/>
              <a:defRPr sz="2800" b="1"/>
            </a:lvl1pPr>
          </a:lstStyle>
          <a:p>
            <a:pPr algn="l"/>
            <a:r>
              <a:rPr lang="en-US" sz="2000" dirty="0"/>
              <a:t>Purpose: </a:t>
            </a:r>
            <a:r>
              <a:rPr lang="en-US" sz="2000" b="0" dirty="0"/>
              <a:t>Ensure cloud adoption aligns with business strategy, financial discipline, and governance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42975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B380-BC34-45D3-B56D-ABEC3696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1674-EB1B-BE86-AFC5-9063D8C9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269000"/>
            <a:ext cx="11160000" cy="3542504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Cloud Delivery Enablement - Level 2 Capabilities: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Demand intake and prioritization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Solution architecture and design governance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Platform and environment provisioning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Tooling and automation enablement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Release and deployment management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591772D-1EB5-4440-B32A-D141158181F8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Capability Domain 2 – Cloud Delivery Enablement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1B8CB-B1E1-BD65-7CF2-1B6B85E2FE3F}"/>
              </a:ext>
            </a:extLst>
          </p:cNvPr>
          <p:cNvSpPr txBox="1"/>
          <p:nvPr/>
        </p:nvSpPr>
        <p:spPr>
          <a:xfrm>
            <a:off x="336000" y="5188890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 b="1"/>
            </a:lvl1pPr>
          </a:lstStyle>
          <a:p>
            <a:r>
              <a:rPr lang="en-US" sz="2000" dirty="0"/>
              <a:t>Purpose: </a:t>
            </a:r>
            <a:r>
              <a:rPr lang="en-US" sz="2000" b="0" dirty="0"/>
              <a:t>Enable reliable and </a:t>
            </a:r>
            <a:r>
              <a:rPr lang="en-US" sz="1800" b="0" dirty="0"/>
              <a:t>repeatable</a:t>
            </a:r>
            <a:r>
              <a:rPr lang="en-US" sz="2000" b="0" dirty="0"/>
              <a:t> delivery of business capabilities using cloud platforms.</a:t>
            </a:r>
          </a:p>
        </p:txBody>
      </p:sp>
    </p:spTree>
    <p:extLst>
      <p:ext uri="{BB962C8B-B14F-4D97-AF65-F5344CB8AC3E}">
        <p14:creationId xmlns:p14="http://schemas.microsoft.com/office/powerpoint/2010/main" val="336353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2576C-DF20-72F1-149C-82491A3B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2CC4-DC8D-BEA4-FC0A-21448A96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269000"/>
            <a:ext cx="11160000" cy="3511726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Cloud Operations and Optimization - Level 2 Capabilities: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Service monitoring and observability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Incident and problem management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Capacity and performance optimization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Cost monitoring and optimization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Continuous service improvement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B984756-824A-DBFE-5C2C-CFFC56F4463D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Capability Domain 3 – Cloud Operations and Optimization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8A457-DFA1-5588-AADE-EA90E6764A7C}"/>
              </a:ext>
            </a:extLst>
          </p:cNvPr>
          <p:cNvSpPr txBox="1"/>
          <p:nvPr/>
        </p:nvSpPr>
        <p:spPr>
          <a:xfrm>
            <a:off x="194449" y="5229000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 b="1"/>
            </a:lvl1pPr>
          </a:lstStyle>
          <a:p>
            <a:r>
              <a:rPr lang="en-US" sz="2000" dirty="0"/>
              <a:t>Purpose: </a:t>
            </a:r>
            <a:r>
              <a:rPr lang="en-US" sz="2000" b="0" dirty="0"/>
              <a:t>Operate cloud platforms reliably while continuously optimizing cost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2431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2F18-C1C1-75A1-8AE8-DB0964AD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3A5E-BFE0-16B4-CA7E-B6BCDD03B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269000"/>
            <a:ext cx="11160000" cy="3685456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Security, Risk, and Compliance  - Level 2 Capabilities: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Security architecture and control definition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Identity and access governance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Risk management and exception governance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Compliance monitoring and reporting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Audit and regulatory support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0FE5FA4-588F-7EB0-9742-FF33E786AB41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Capability Domain 4 – Security, Risk, and Compliance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92E9F-D76B-DBCF-1324-F1E7AD8F7A17}"/>
              </a:ext>
            </a:extLst>
          </p:cNvPr>
          <p:cNvSpPr txBox="1"/>
          <p:nvPr/>
        </p:nvSpPr>
        <p:spPr>
          <a:xfrm>
            <a:off x="336000" y="5229000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 b="1"/>
            </a:lvl1pPr>
          </a:lstStyle>
          <a:p>
            <a:r>
              <a:rPr lang="en-US" sz="2000" dirty="0"/>
              <a:t>Purpose: </a:t>
            </a:r>
            <a:r>
              <a:rPr lang="en-US" sz="2000" b="0" dirty="0"/>
              <a:t>Protect enterprise assets and ensure compliance across all cloud workloads.</a:t>
            </a:r>
          </a:p>
        </p:txBody>
      </p:sp>
    </p:spTree>
    <p:extLst>
      <p:ext uri="{BB962C8B-B14F-4D97-AF65-F5344CB8AC3E}">
        <p14:creationId xmlns:p14="http://schemas.microsoft.com/office/powerpoint/2010/main" val="229007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634C3-3A51-E465-A614-F2DDA3B6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2A2E-9189-C3C7-6382-F05D5B944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269000"/>
            <a:ext cx="11160000" cy="3685456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Innovation and Digital Enablement - Level 2 Capabilities: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Platform and capability enablement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Skill and operating model evolution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Tooling and automation enablement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Innovation pilots and experimentation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Industrializing successful initiatives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B85E3662-8675-F42F-7E23-C2659F19017F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Capability Domain 5 – Innovation and Digital Enablement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1D953-E83A-4037-ED5B-B8A91D67291D}"/>
              </a:ext>
            </a:extLst>
          </p:cNvPr>
          <p:cNvSpPr txBox="1"/>
          <p:nvPr/>
        </p:nvSpPr>
        <p:spPr>
          <a:xfrm>
            <a:off x="336000" y="5229000"/>
            <a:ext cx="111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 b="1"/>
            </a:lvl1pPr>
          </a:lstStyle>
          <a:p>
            <a:r>
              <a:rPr lang="en-US" sz="2000" dirty="0"/>
              <a:t>Purpose: </a:t>
            </a:r>
            <a:r>
              <a:rPr lang="en-US" sz="2000" b="0" dirty="0"/>
              <a:t>Build long-term organizational capability to innovate and evolve using cloud platforms.</a:t>
            </a:r>
          </a:p>
        </p:txBody>
      </p:sp>
    </p:spTree>
    <p:extLst>
      <p:ext uri="{BB962C8B-B14F-4D97-AF65-F5344CB8AC3E}">
        <p14:creationId xmlns:p14="http://schemas.microsoft.com/office/powerpoint/2010/main" val="196186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7E08-2E0A-A784-D111-C7F91EA1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E79F2615-5297-3997-8EF8-920CFD2770F1}"/>
              </a:ext>
            </a:extLst>
          </p:cNvPr>
          <p:cNvSpPr/>
          <p:nvPr/>
        </p:nvSpPr>
        <p:spPr>
          <a:xfrm>
            <a:off x="606490" y="388620"/>
            <a:ext cx="1096347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Capability to Value Stream Mapping</a:t>
            </a:r>
            <a:endParaRPr lang="en-IN" sz="2800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8633823-0D04-1584-6143-AB8A2A540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626816"/>
              </p:ext>
            </p:extLst>
          </p:nvPr>
        </p:nvGraphicFramePr>
        <p:xfrm>
          <a:off x="594196" y="1719331"/>
          <a:ext cx="10181804" cy="3149670"/>
        </p:xfrm>
        <a:graphic>
          <a:graphicData uri="http://schemas.openxmlformats.org/drawingml/2006/table">
            <a:tbl>
              <a:tblPr/>
              <a:tblGrid>
                <a:gridCol w="3733328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6448476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</a:tblGrid>
              <a:tr h="542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Value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Primary Business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3911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Demand-to-Deployment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Cloud Delivery Enablement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542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Operate-and-Optimize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Cloud Operations and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542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Govern-and-Secure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Security, Risk, and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542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Enable-and-Innovate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Innovation and Digital Enablement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  <a:tr h="587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All Value Streams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Cloud Strategy and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97969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B35BA0F-8DB6-E262-1D12-AFB7258D9A29}"/>
              </a:ext>
            </a:extLst>
          </p:cNvPr>
          <p:cNvSpPr txBox="1"/>
          <p:nvPr/>
        </p:nvSpPr>
        <p:spPr>
          <a:xfrm>
            <a:off x="606490" y="5129340"/>
            <a:ext cx="10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None/>
              <a:defRPr sz="2400" b="1"/>
            </a:lvl1pPr>
          </a:lstStyle>
          <a:p>
            <a:r>
              <a:rPr lang="en-US" sz="1800" dirty="0"/>
              <a:t>This mapping shows how business capabilities collectively enable end-to-end value delivery.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676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B57CD-D92A-6FAC-E376-FBEDB71D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DF4D-DDD6-731F-AD45-C789448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665627"/>
            <a:ext cx="10992148" cy="3923373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Enables identification of capability gaps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Supports investment prioritization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Informs operating model design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Provides stable foundation for roadmap</a:t>
            </a:r>
          </a:p>
          <a:p>
            <a:pPr lvl="1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FB77880-FE92-06A6-4393-195B9C64856E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Why This Capability Map Matters</a:t>
            </a:r>
          </a:p>
        </p:txBody>
      </p:sp>
    </p:spTree>
    <p:extLst>
      <p:ext uri="{BB962C8B-B14F-4D97-AF65-F5344CB8AC3E}">
        <p14:creationId xmlns:p14="http://schemas.microsoft.com/office/powerpoint/2010/main" val="318005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566AB-94D2-7A35-8C54-D691977A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0172-4DF0-9F4C-6B3E-8D11D4D8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665627"/>
            <a:ext cx="10992148" cy="436882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Target Operating Model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Transformation Roadmap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Governance and funding decisions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Platform and team ownership models</a:t>
            </a: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1E560AD-46F5-2E19-A2AC-45A0C6375993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Relationship to Other Architecture Artefacts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18948-A7E0-8898-34F3-B0ED0172D181}"/>
              </a:ext>
            </a:extLst>
          </p:cNvPr>
          <p:cNvSpPr txBox="1"/>
          <p:nvPr/>
        </p:nvSpPr>
        <p:spPr>
          <a:xfrm>
            <a:off x="503852" y="6238994"/>
            <a:ext cx="736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Next Artefact: </a:t>
            </a:r>
            <a:r>
              <a:rPr lang="en-US" sz="1800" b="1" dirty="0"/>
              <a:t>Target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916687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</TotalTime>
  <Words>649</Words>
  <Application>Microsoft Office PowerPoint</Application>
  <PresentationFormat>Widescreen</PresentationFormat>
  <Paragraphs>146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Business Capability Map 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70</cp:revision>
  <dcterms:created xsi:type="dcterms:W3CDTF">2025-12-13T13:21:05Z</dcterms:created>
  <dcterms:modified xsi:type="dcterms:W3CDTF">2025-12-23T01:12:51Z</dcterms:modified>
</cp:coreProperties>
</file>