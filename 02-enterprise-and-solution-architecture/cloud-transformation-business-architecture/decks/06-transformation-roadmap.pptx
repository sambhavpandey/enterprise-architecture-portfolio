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3" r:id="rId2"/>
    <p:sldId id="258" r:id="rId3"/>
    <p:sldId id="270" r:id="rId4"/>
    <p:sldId id="271" r:id="rId5"/>
    <p:sldId id="272" r:id="rId6"/>
    <p:sldId id="285" r:id="rId7"/>
    <p:sldId id="286" r:id="rId8"/>
    <p:sldId id="269" r:id="rId9"/>
    <p:sldId id="273" r:id="rId10"/>
    <p:sldId id="284" r:id="rId11"/>
    <p:sldId id="274" r:id="rId12"/>
    <p:sldId id="287" r:id="rId13"/>
    <p:sldId id="288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0" d="100"/>
          <a:sy n="80" d="100"/>
        </p:scale>
        <p:origin x="5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ACDDF-BF80-4617-AAA8-AED92909C1CA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BCFD0-09CC-4F22-8C35-5BD1EC5B2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006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CE20F3D-58CF-BA2A-E8B1-0B81275DF72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002280" y="21336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sx="13000" sy="130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584454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4800" dirty="0">
                <a:solidFill>
                  <a:schemeClr val="bg1"/>
                </a:solidFill>
              </a:rPr>
              <a:t>Transformation Roadmap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Transformation at Northstar Digital Group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7542A-60C5-B98A-FDE5-A8B12341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670" y="4419600"/>
            <a:ext cx="3611882" cy="579120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Phased execution roadmap aligned to business outcomes</a:t>
            </a:r>
            <a:endParaRPr lang="en-IN" sz="2800" dirty="0">
              <a:solidFill>
                <a:srgbClr val="FFFF00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09000"/>
            <a:ext cx="120559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Disclaimer: Fictional enterprise case study for portfolio demonstration</a:t>
            </a:r>
          </a:p>
        </p:txBody>
      </p:sp>
      <p:pic>
        <p:nvPicPr>
          <p:cNvPr id="1026" name="Picture 2" descr="Roadmap - Free business icons">
            <a:extLst>
              <a:ext uri="{FF2B5EF4-FFF2-40B4-BE49-F238E27FC236}">
                <a16:creationId xmlns:a16="http://schemas.microsoft.com/office/drawing/2014/main" id="{F9171182-077A-DFBF-31A5-BD00A4545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000" y="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D393-4269-A465-24DD-FA12087C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629002"/>
            <a:ext cx="2520000" cy="3959998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Translate strategy into a phased execution plan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CF3204B-E949-CC10-360B-13505F53D56D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b="1" dirty="0"/>
              <a:t>Purpose of the Transformation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60CB6-BB80-8622-0DA4-A6CBA104518A}"/>
              </a:ext>
            </a:extLst>
          </p:cNvPr>
          <p:cNvSpPr txBox="1"/>
          <p:nvPr/>
        </p:nvSpPr>
        <p:spPr>
          <a:xfrm>
            <a:off x="336000" y="5993516"/>
            <a:ext cx="10800000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Key Principle: Value is delivered incrementally, not at the end of transformation.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472F2C-CE6B-71AE-FDB6-9DA3BEADD3AF}"/>
              </a:ext>
            </a:extLst>
          </p:cNvPr>
          <p:cNvSpPr txBox="1">
            <a:spLocks/>
          </p:cNvSpPr>
          <p:nvPr/>
        </p:nvSpPr>
        <p:spPr>
          <a:xfrm>
            <a:off x="3216000" y="1629000"/>
            <a:ext cx="2520000" cy="39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Prioritize initiatives based on business value and risk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887361-7478-76ED-7E06-125918F45763}"/>
              </a:ext>
            </a:extLst>
          </p:cNvPr>
          <p:cNvSpPr txBox="1">
            <a:spLocks/>
          </p:cNvSpPr>
          <p:nvPr/>
        </p:nvSpPr>
        <p:spPr>
          <a:xfrm>
            <a:off x="6096000" y="1629000"/>
            <a:ext cx="2520000" cy="39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Coordinate capabilities, operating model, and governance changes</a:t>
            </a:r>
          </a:p>
          <a:p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ED5B3A-59C2-E1CD-D269-FB7489AE62ED}"/>
              </a:ext>
            </a:extLst>
          </p:cNvPr>
          <p:cNvSpPr txBox="1">
            <a:spLocks/>
          </p:cNvSpPr>
          <p:nvPr/>
        </p:nvSpPr>
        <p:spPr>
          <a:xfrm>
            <a:off x="8976000" y="1629001"/>
            <a:ext cx="2520000" cy="3959999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Provide visibility into short-, medium-, and long-term outcomes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279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ABB04-AA4D-63B1-F85F-5DF82C3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CF354-9F79-F599-C129-D05833C0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1989000"/>
            <a:ext cx="1992148" cy="360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Business outcomes drive sequencing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1D1DF871-16BD-DC1F-7368-A45FA657EED4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Roadmap Design Principles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9EAC7A-0A2B-90BC-EB5C-1BC2CF47BDFC}"/>
              </a:ext>
            </a:extLst>
          </p:cNvPr>
          <p:cNvSpPr txBox="1">
            <a:spLocks/>
          </p:cNvSpPr>
          <p:nvPr/>
        </p:nvSpPr>
        <p:spPr>
          <a:xfrm>
            <a:off x="2856000" y="1989000"/>
            <a:ext cx="180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Stabilize before optimizing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0BE461-E842-EAC7-21EF-4B55BE607983}"/>
              </a:ext>
            </a:extLst>
          </p:cNvPr>
          <p:cNvSpPr txBox="1">
            <a:spLocks/>
          </p:cNvSpPr>
          <p:nvPr/>
        </p:nvSpPr>
        <p:spPr>
          <a:xfrm>
            <a:off x="5016000" y="1989000"/>
            <a:ext cx="180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Platform-first, workload-second</a:t>
            </a:r>
          </a:p>
          <a:p>
            <a:pPr lvl="1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29ECE6-A98F-C190-0764-9235D4EC6894}"/>
              </a:ext>
            </a:extLst>
          </p:cNvPr>
          <p:cNvSpPr txBox="1">
            <a:spLocks/>
          </p:cNvSpPr>
          <p:nvPr/>
        </p:nvSpPr>
        <p:spPr>
          <a:xfrm>
            <a:off x="7176000" y="1989000"/>
            <a:ext cx="180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Automation and governance embedded early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880F96-E655-30CC-492D-E34A9B8A16DF}"/>
              </a:ext>
            </a:extLst>
          </p:cNvPr>
          <p:cNvSpPr txBox="1">
            <a:spLocks/>
          </p:cNvSpPr>
          <p:nvPr/>
        </p:nvSpPr>
        <p:spPr>
          <a:xfrm>
            <a:off x="9336000" y="1989000"/>
            <a:ext cx="216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Incremental delivery with measurable benefits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55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775C5-EFCB-7D2F-B47C-142B740D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3FEE-828E-F4C1-7CA1-45A9E4AC1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000" y="3429000"/>
            <a:ext cx="2520000" cy="216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Foundation and Stabilization (0–6 months)</a:t>
            </a:r>
          </a:p>
          <a:p>
            <a:pPr lvl="1"/>
            <a:endParaRPr lang="en-US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C2C9834D-DB0F-0C12-E1B2-F284FFA55179}"/>
              </a:ext>
            </a:extLst>
          </p:cNvPr>
          <p:cNvSpPr/>
          <p:nvPr/>
        </p:nvSpPr>
        <p:spPr>
          <a:xfrm>
            <a:off x="1056000" y="434340"/>
            <a:ext cx="1008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Roadmap Overview (At a Glance)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14902-952D-2885-F00B-8D03115B3B34}"/>
              </a:ext>
            </a:extLst>
          </p:cNvPr>
          <p:cNvSpPr txBox="1"/>
          <p:nvPr/>
        </p:nvSpPr>
        <p:spPr>
          <a:xfrm>
            <a:off x="1056000" y="1629000"/>
            <a:ext cx="972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Transformation Phases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8237A-6EA1-D1B6-5926-EA78A2E9D0A7}"/>
              </a:ext>
            </a:extLst>
          </p:cNvPr>
          <p:cNvSpPr txBox="1"/>
          <p:nvPr/>
        </p:nvSpPr>
        <p:spPr>
          <a:xfrm>
            <a:off x="1056000" y="6309000"/>
            <a:ext cx="573755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50000"/>
              </a:lnSpc>
              <a:buNone/>
            </a:pPr>
            <a:r>
              <a:rPr lang="en-US" sz="1600" b="1" dirty="0"/>
              <a:t>Each phase builds on the previous one.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63D440-EA2A-2116-C4D4-F2E9477EB5E1}"/>
              </a:ext>
            </a:extLst>
          </p:cNvPr>
          <p:cNvSpPr txBox="1">
            <a:spLocks/>
          </p:cNvSpPr>
          <p:nvPr/>
        </p:nvSpPr>
        <p:spPr>
          <a:xfrm>
            <a:off x="4656000" y="3429000"/>
            <a:ext cx="2520000" cy="21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Standardization and Scale (6–18 months)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74636E-6FC9-87E3-1D54-FCFFA5479D26}"/>
              </a:ext>
            </a:extLst>
          </p:cNvPr>
          <p:cNvSpPr txBox="1">
            <a:spLocks/>
          </p:cNvSpPr>
          <p:nvPr/>
        </p:nvSpPr>
        <p:spPr>
          <a:xfrm>
            <a:off x="8256000" y="3429000"/>
            <a:ext cx="2389448" cy="21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Optimization and Innovation (18–36 months)</a:t>
            </a:r>
          </a:p>
          <a:p>
            <a:pPr lvl="1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721EE-10F4-9BF6-F696-1D20BB430070}"/>
              </a:ext>
            </a:extLst>
          </p:cNvPr>
          <p:cNvSpPr txBox="1"/>
          <p:nvPr/>
        </p:nvSpPr>
        <p:spPr>
          <a:xfrm>
            <a:off x="4656000" y="2709000"/>
            <a:ext cx="2160000" cy="461665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pPr lvl="1"/>
            <a:r>
              <a:rPr lang="en-US" dirty="0"/>
              <a:t>Phase 2: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F01679-A75A-05F5-98F4-DB92DD2E089F}"/>
              </a:ext>
            </a:extLst>
          </p:cNvPr>
          <p:cNvSpPr txBox="1"/>
          <p:nvPr/>
        </p:nvSpPr>
        <p:spPr>
          <a:xfrm>
            <a:off x="8256000" y="2659724"/>
            <a:ext cx="2160000" cy="520958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pPr lvl="1"/>
            <a:r>
              <a:rPr lang="en-US" dirty="0"/>
              <a:t>Phase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2E4897-30C3-E590-FABF-894E608834D8}"/>
              </a:ext>
            </a:extLst>
          </p:cNvPr>
          <p:cNvSpPr txBox="1"/>
          <p:nvPr/>
        </p:nvSpPr>
        <p:spPr>
          <a:xfrm>
            <a:off x="1056000" y="2709000"/>
            <a:ext cx="2520000" cy="422405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pPr lvl="1"/>
            <a:r>
              <a:rPr lang="en-US"/>
              <a:t>Phase 1: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90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2907F-43B4-C5F8-23D1-D31B80A4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45137-231D-1136-51D3-CA29303E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989000"/>
            <a:ext cx="3240000" cy="432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Establish secure and governed cloud foundations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Reduce operational risk</a:t>
            </a:r>
          </a:p>
          <a:p>
            <a:r>
              <a:rPr lang="en-US" sz="2000" dirty="0">
                <a:solidFill>
                  <a:schemeClr val="tx1"/>
                </a:solidFill>
              </a:rPr>
              <a:t>Create initial momentum and confidence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CED6B30-CF4F-EB11-1510-E4D312C22C30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Phase 1 – Foundation and Stabilization (0–6 Months)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54A914-D205-7357-A30A-CB33CE533872}"/>
              </a:ext>
            </a:extLst>
          </p:cNvPr>
          <p:cNvSpPr txBox="1">
            <a:spLocks/>
          </p:cNvSpPr>
          <p:nvPr/>
        </p:nvSpPr>
        <p:spPr>
          <a:xfrm>
            <a:off x="8256000" y="1989000"/>
            <a:ext cx="3240000" cy="432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Reduced deployment risk</a:t>
            </a:r>
          </a:p>
          <a:p>
            <a:r>
              <a:rPr lang="en-US" dirty="0"/>
              <a:t>Improved visibility into cloud usage and cost</a:t>
            </a:r>
          </a:p>
          <a:p>
            <a:r>
              <a:rPr lang="en-US" dirty="0"/>
              <a:t>Clear ownership and governance established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EAE046-0F16-0823-0780-91645A61ECE4}"/>
              </a:ext>
            </a:extLst>
          </p:cNvPr>
          <p:cNvSpPr txBox="1">
            <a:spLocks/>
          </p:cNvSpPr>
          <p:nvPr/>
        </p:nvSpPr>
        <p:spPr>
          <a:xfrm>
            <a:off x="4296000" y="1989000"/>
            <a:ext cx="3240000" cy="432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lnSpcReduction="10000"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Define cloud strategy, standards, and guardrails</a:t>
            </a:r>
          </a:p>
          <a:p>
            <a:r>
              <a:rPr lang="en-US" dirty="0"/>
              <a:t>Establish central cloud platform and governance</a:t>
            </a:r>
          </a:p>
          <a:p>
            <a:r>
              <a:rPr lang="en-US" dirty="0"/>
              <a:t>Core environments and shared services setup</a:t>
            </a:r>
          </a:p>
          <a:p>
            <a:r>
              <a:rPr lang="en-US" dirty="0"/>
              <a:t>Baseline security implementation</a:t>
            </a:r>
          </a:p>
          <a:p>
            <a:r>
              <a:rPr lang="en-US" dirty="0"/>
              <a:t>Setup cost visibility and basic financial governance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C0B44-F2DD-3B98-AA00-BBDB33D163F4}"/>
              </a:ext>
            </a:extLst>
          </p:cNvPr>
          <p:cNvSpPr txBox="1"/>
          <p:nvPr/>
        </p:nvSpPr>
        <p:spPr>
          <a:xfrm>
            <a:off x="336000" y="1470538"/>
            <a:ext cx="3240000" cy="453183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C224C-19ED-3C5B-3A17-7D81E57208BC}"/>
              </a:ext>
            </a:extLst>
          </p:cNvPr>
          <p:cNvSpPr txBox="1"/>
          <p:nvPr/>
        </p:nvSpPr>
        <p:spPr>
          <a:xfrm>
            <a:off x="4296000" y="1451878"/>
            <a:ext cx="3240000" cy="453183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Key Initiatives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A1083-99B0-DD5B-40F6-634D9909ADAB}"/>
              </a:ext>
            </a:extLst>
          </p:cNvPr>
          <p:cNvSpPr txBox="1"/>
          <p:nvPr/>
        </p:nvSpPr>
        <p:spPr>
          <a:xfrm>
            <a:off x="8256000" y="1470539"/>
            <a:ext cx="3240000" cy="453183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Business Outcomes </a:t>
            </a:r>
          </a:p>
        </p:txBody>
      </p:sp>
    </p:spTree>
    <p:extLst>
      <p:ext uri="{BB962C8B-B14F-4D97-AF65-F5344CB8AC3E}">
        <p14:creationId xmlns:p14="http://schemas.microsoft.com/office/powerpoint/2010/main" val="3470436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875E2-6A62-6683-4B67-952026F3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6DA6-D7EB-3BA1-B100-1E0F8D54B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989000"/>
            <a:ext cx="3240000" cy="46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Enable repeatable delivery</a:t>
            </a:r>
          </a:p>
          <a:p>
            <a:r>
              <a:rPr lang="en-US" sz="2000" dirty="0">
                <a:solidFill>
                  <a:schemeClr val="tx1"/>
                </a:solidFill>
              </a:rPr>
              <a:t>Scale cloud adoption across business units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Improve operational efficiency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3B4B688-B86E-A789-1543-74E71F475639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Phase 2 – Standardization and Scale (6–18 Months)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21B71D8-C4EA-6B9A-4563-3A833E573390}"/>
              </a:ext>
            </a:extLst>
          </p:cNvPr>
          <p:cNvSpPr txBox="1">
            <a:spLocks/>
          </p:cNvSpPr>
          <p:nvPr/>
        </p:nvSpPr>
        <p:spPr>
          <a:xfrm>
            <a:off x="8256000" y="1989000"/>
            <a:ext cx="3240000" cy="46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Faster time-to-market</a:t>
            </a:r>
          </a:p>
          <a:p>
            <a:r>
              <a:rPr lang="en-US" dirty="0"/>
              <a:t>Improved reliability and resilience</a:t>
            </a:r>
          </a:p>
          <a:p>
            <a:r>
              <a:rPr lang="en-US" dirty="0"/>
              <a:t>Consistent governance across regions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61FEEB-4A43-702E-EF7C-B72E31E728F5}"/>
              </a:ext>
            </a:extLst>
          </p:cNvPr>
          <p:cNvSpPr txBox="1">
            <a:spLocks/>
          </p:cNvSpPr>
          <p:nvPr/>
        </p:nvSpPr>
        <p:spPr>
          <a:xfrm>
            <a:off x="4296000" y="1989000"/>
            <a:ext cx="3240000" cy="46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dirty="0"/>
              <a:t>Standardize delivery pipelines and automation</a:t>
            </a:r>
          </a:p>
          <a:p>
            <a:r>
              <a:rPr lang="en-US" dirty="0"/>
              <a:t>Onboard priority workloads and business domains</a:t>
            </a:r>
          </a:p>
          <a:p>
            <a:r>
              <a:rPr lang="en-US" dirty="0"/>
              <a:t>Implement monitoring, incident management, and optimization practices</a:t>
            </a:r>
          </a:p>
          <a:p>
            <a:r>
              <a:rPr lang="en-US" dirty="0"/>
              <a:t>Embed security, compliance, and cost controls into delivery workflows</a:t>
            </a:r>
          </a:p>
          <a:p>
            <a:r>
              <a:rPr lang="en-US" dirty="0"/>
              <a:t>Evolve operating model toward product and platform ownership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9BFF1-6737-5096-3D41-6F85633F8386}"/>
              </a:ext>
            </a:extLst>
          </p:cNvPr>
          <p:cNvSpPr txBox="1"/>
          <p:nvPr/>
        </p:nvSpPr>
        <p:spPr>
          <a:xfrm>
            <a:off x="336000" y="1269000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E1ABDE-EBA6-B0CA-0398-1D5BF0E0BEDA}"/>
              </a:ext>
            </a:extLst>
          </p:cNvPr>
          <p:cNvSpPr txBox="1"/>
          <p:nvPr/>
        </p:nvSpPr>
        <p:spPr>
          <a:xfrm>
            <a:off x="4296000" y="1269000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Key Initiatives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6DACD-C37E-744E-DD40-391B67C57ECB}"/>
              </a:ext>
            </a:extLst>
          </p:cNvPr>
          <p:cNvSpPr txBox="1"/>
          <p:nvPr/>
        </p:nvSpPr>
        <p:spPr>
          <a:xfrm>
            <a:off x="8256000" y="1269000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Business Outcomes </a:t>
            </a:r>
          </a:p>
        </p:txBody>
      </p:sp>
    </p:spTree>
    <p:extLst>
      <p:ext uri="{BB962C8B-B14F-4D97-AF65-F5344CB8AC3E}">
        <p14:creationId xmlns:p14="http://schemas.microsoft.com/office/powerpoint/2010/main" val="3560590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CCB7F-0BE8-01EC-3361-6B644E18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DF3B-3C6C-AEB9-F8DA-224CCFBF3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349000"/>
            <a:ext cx="3240000" cy="360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Optimize cost and performance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Enable advanced digital capabilities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Institutionalize continuous improvement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F7A8AB9-0CFE-DC15-62A0-B088CB965EB8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Phase 3 – Optimization and Innovation (18–36 Months)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78CD23-371F-D0FA-1958-09BBA568219F}"/>
              </a:ext>
            </a:extLst>
          </p:cNvPr>
          <p:cNvSpPr txBox="1">
            <a:spLocks/>
          </p:cNvSpPr>
          <p:nvPr/>
        </p:nvSpPr>
        <p:spPr>
          <a:xfrm>
            <a:off x="8256000" y="2349000"/>
            <a:ext cx="324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dirty="0"/>
              <a:t>Lower unit technology cost</a:t>
            </a:r>
          </a:p>
          <a:p>
            <a:r>
              <a:rPr lang="en-US" dirty="0"/>
              <a:t>Improved operational insight and decision-making</a:t>
            </a:r>
          </a:p>
          <a:p>
            <a:r>
              <a:rPr lang="en-US" dirty="0"/>
              <a:t>Sustainable innovation capability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192EB9-3638-A030-5437-22DB7C089EF4}"/>
              </a:ext>
            </a:extLst>
          </p:cNvPr>
          <p:cNvSpPr txBox="1">
            <a:spLocks/>
          </p:cNvSpPr>
          <p:nvPr/>
        </p:nvSpPr>
        <p:spPr>
          <a:xfrm>
            <a:off x="4296000" y="2349000"/>
            <a:ext cx="3240000" cy="360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lnSpcReduction="10000"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dirty="0"/>
              <a:t>Advanced cost optimization and chargeback practices</a:t>
            </a:r>
          </a:p>
          <a:p>
            <a:r>
              <a:rPr lang="en-US" dirty="0"/>
              <a:t>Performance and capacity optimization</a:t>
            </a:r>
          </a:p>
          <a:p>
            <a:r>
              <a:rPr lang="en-US" dirty="0"/>
              <a:t>Analytics and automation</a:t>
            </a:r>
          </a:p>
          <a:p>
            <a:r>
              <a:rPr lang="en-US" dirty="0"/>
              <a:t>Run innovation pilots and scale successful initiatives</a:t>
            </a:r>
          </a:p>
          <a:p>
            <a:r>
              <a:rPr lang="en-US" dirty="0"/>
              <a:t>Continuous improvement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FC81A-79F8-2189-CAF8-DE8A1EEA9B75}"/>
              </a:ext>
            </a:extLst>
          </p:cNvPr>
          <p:cNvSpPr txBox="1"/>
          <p:nvPr/>
        </p:nvSpPr>
        <p:spPr>
          <a:xfrm>
            <a:off x="336000" y="1519483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342FE-2AC8-D868-4442-B3C799288DE9}"/>
              </a:ext>
            </a:extLst>
          </p:cNvPr>
          <p:cNvSpPr txBox="1"/>
          <p:nvPr/>
        </p:nvSpPr>
        <p:spPr>
          <a:xfrm>
            <a:off x="4296000" y="1519483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Key Initiatives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ACE2A0-2A7A-18EE-3B98-C78D0C590D61}"/>
              </a:ext>
            </a:extLst>
          </p:cNvPr>
          <p:cNvSpPr txBox="1"/>
          <p:nvPr/>
        </p:nvSpPr>
        <p:spPr>
          <a:xfrm>
            <a:off x="8256000" y="1503636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Business Outcomes </a:t>
            </a:r>
          </a:p>
        </p:txBody>
      </p:sp>
    </p:spTree>
    <p:extLst>
      <p:ext uri="{BB962C8B-B14F-4D97-AF65-F5344CB8AC3E}">
        <p14:creationId xmlns:p14="http://schemas.microsoft.com/office/powerpoint/2010/main" val="541200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7E08-2E0A-A784-D111-C7F91EA1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E79F2615-5297-3997-8EF8-920CFD2770F1}"/>
              </a:ext>
            </a:extLst>
          </p:cNvPr>
          <p:cNvSpPr/>
          <p:nvPr/>
        </p:nvSpPr>
        <p:spPr>
          <a:xfrm>
            <a:off x="606490" y="388620"/>
            <a:ext cx="1096347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Target Business Outcomes</a:t>
            </a:r>
            <a:endParaRPr lang="en-IN" sz="3200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8633823-0D04-1584-6143-AB8A2A540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891216"/>
              </p:ext>
            </p:extLst>
          </p:nvPr>
        </p:nvGraphicFramePr>
        <p:xfrm>
          <a:off x="696000" y="1629000"/>
          <a:ext cx="10800000" cy="4319999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292743293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154747953"/>
                    </a:ext>
                  </a:extLst>
                </a:gridCol>
                <a:gridCol w="2436000">
                  <a:extLst>
                    <a:ext uri="{9D8B030D-6E8A-4147-A177-3AD203B41FA5}">
                      <a16:colId xmlns:a16="http://schemas.microsoft.com/office/drawing/2014/main" val="322861222"/>
                    </a:ext>
                  </a:extLst>
                </a:gridCol>
                <a:gridCol w="2796000">
                  <a:extLst>
                    <a:ext uri="{9D8B030D-6E8A-4147-A177-3AD203B41FA5}">
                      <a16:colId xmlns:a16="http://schemas.microsoft.com/office/drawing/2014/main" val="2388046913"/>
                    </a:ext>
                  </a:extLst>
                </a:gridCol>
              </a:tblGrid>
              <a:tr h="428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Capability Domain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Phase 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Phase 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Phase 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49729"/>
                  </a:ext>
                </a:extLst>
              </a:tr>
              <a:tr h="7782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Cloud Strategy and Governance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Defined</a:t>
                      </a:r>
                      <a:endParaRPr lang="en-IN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Embedded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Optimized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075244"/>
                  </a:ext>
                </a:extLst>
              </a:tr>
              <a:tr h="7782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Cloud Delivery Enablement</a:t>
                      </a:r>
                      <a:endParaRPr lang="en-IN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Basic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Standardized</a:t>
                      </a:r>
                      <a:endParaRPr lang="en-IN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Optimized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64741"/>
                  </a:ext>
                </a:extLst>
              </a:tr>
              <a:tr h="7782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Cloud Operations and Optimization</a:t>
                      </a:r>
                      <a:endParaRPr lang="en-IN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Reactive</a:t>
                      </a:r>
                      <a:endParaRPr lang="en-IN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Proactive</a:t>
                      </a:r>
                      <a:endParaRPr lang="en-IN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Predictive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63476"/>
                  </a:ext>
                </a:extLst>
              </a:tr>
              <a:tr h="7782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Security, Risk, and Compliance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Baseline</a:t>
                      </a:r>
                      <a:endParaRPr lang="en-IN" sz="18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Integrated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Continuous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6034"/>
                  </a:ext>
                </a:extLst>
              </a:tr>
              <a:tr h="7782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Innovation and Digital Enablement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Initiated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Enabled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Scaled 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4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6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B57CD-D92A-6FAC-E376-FBEDB71D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DF4D-DDD6-731F-AD45-C7894489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349000"/>
            <a:ext cx="2880000" cy="324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	</a:t>
            </a:r>
          </a:p>
          <a:p>
            <a:pPr marL="457200" lvl="1" indent="0">
              <a:buNone/>
            </a:pPr>
            <a:endParaRPr lang="en-US" sz="1800" b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	Phase 1: 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Centralized governance and platform setup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FB77880-FE92-06A6-4393-195B9C64856E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Operating Model Evolution Across Phases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2AA9A-57BE-CFC6-C62C-4D712E4B10B4}"/>
              </a:ext>
            </a:extLst>
          </p:cNvPr>
          <p:cNvSpPr txBox="1"/>
          <p:nvPr/>
        </p:nvSpPr>
        <p:spPr>
          <a:xfrm>
            <a:off x="336000" y="5949000"/>
            <a:ext cx="75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This ensures governance does not become a bottleneck.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DE9D0-69D7-8675-89FC-00C6CFC1924D}"/>
              </a:ext>
            </a:extLst>
          </p:cNvPr>
          <p:cNvSpPr txBox="1"/>
          <p:nvPr/>
        </p:nvSpPr>
        <p:spPr>
          <a:xfrm>
            <a:off x="336000" y="1629000"/>
            <a:ext cx="111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Operating Model Evolution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B4FE25-1577-0710-CD9B-7C202AE2CE86}"/>
              </a:ext>
            </a:extLst>
          </p:cNvPr>
          <p:cNvSpPr txBox="1">
            <a:spLocks/>
          </p:cNvSpPr>
          <p:nvPr/>
        </p:nvSpPr>
        <p:spPr>
          <a:xfrm>
            <a:off x="4296000" y="2349000"/>
            <a:ext cx="2880000" cy="324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lvl="1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b="1" dirty="0"/>
              <a:t>	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	Phase 2: </a:t>
            </a:r>
          </a:p>
          <a:p>
            <a:pPr lvl="1"/>
            <a:r>
              <a:rPr lang="en-US" dirty="0"/>
              <a:t>Federated product teams with central guardrails</a:t>
            </a:r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005A97-D46B-71B9-A723-041B9A0378D2}"/>
              </a:ext>
            </a:extLst>
          </p:cNvPr>
          <p:cNvSpPr txBox="1">
            <a:spLocks/>
          </p:cNvSpPr>
          <p:nvPr/>
        </p:nvSpPr>
        <p:spPr>
          <a:xfrm>
            <a:off x="8616000" y="2349000"/>
            <a:ext cx="2880000" cy="324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lvl="1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b="1" dirty="0"/>
              <a:t>	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	Phase 3: </a:t>
            </a:r>
          </a:p>
          <a:p>
            <a:pPr lvl="1"/>
            <a:r>
              <a:rPr lang="en-US" dirty="0"/>
              <a:t>Mature product and platform operating model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054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566AB-94D2-7A35-8C54-D691977A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0172-4DF0-9F4C-6B3E-8D11D4D8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5400000" cy="324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Legacy system dependencies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Skills and change management readiness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Regulatory and compliance constraints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Budget alignment and investment pacing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Cross-team coordination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1E560AD-46F5-2E19-A2AC-45A0C6375993}"/>
              </a:ext>
            </a:extLst>
          </p:cNvPr>
          <p:cNvSpPr/>
          <p:nvPr/>
        </p:nvSpPr>
        <p:spPr>
          <a:xfrm>
            <a:off x="696000" y="43434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Risk and Dependency Considerations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2E3684-3A91-4351-1B3E-A2CD6333324B}"/>
              </a:ext>
            </a:extLst>
          </p:cNvPr>
          <p:cNvSpPr txBox="1">
            <a:spLocks/>
          </p:cNvSpPr>
          <p:nvPr/>
        </p:nvSpPr>
        <p:spPr>
          <a:xfrm>
            <a:off x="6456000" y="2349000"/>
            <a:ext cx="4680000" cy="324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lvl="1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Phased execution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Strong governance and prioritization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Continuous stakeholder engagement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72D6A-F7F6-5B48-9936-9AD858EE3198}"/>
              </a:ext>
            </a:extLst>
          </p:cNvPr>
          <p:cNvSpPr txBox="1"/>
          <p:nvPr/>
        </p:nvSpPr>
        <p:spPr>
          <a:xfrm>
            <a:off x="696000" y="1629000"/>
            <a:ext cx="54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Key Risks and Dependencies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A801D-17B7-4CA4-2EE4-78B1F23B08B6}"/>
              </a:ext>
            </a:extLst>
          </p:cNvPr>
          <p:cNvSpPr txBox="1"/>
          <p:nvPr/>
        </p:nvSpPr>
        <p:spPr>
          <a:xfrm>
            <a:off x="6456000" y="1629000"/>
            <a:ext cx="46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Mitigation Approach</a:t>
            </a:r>
          </a:p>
        </p:txBody>
      </p:sp>
    </p:spTree>
    <p:extLst>
      <p:ext uri="{BB962C8B-B14F-4D97-AF65-F5344CB8AC3E}">
        <p14:creationId xmlns:p14="http://schemas.microsoft.com/office/powerpoint/2010/main" val="916687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DD418-A92C-8CD6-799E-7A65CCD8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997F-B822-DA5D-A657-272D6748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10080000" cy="324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600" dirty="0">
              <a:solidFill>
                <a:schemeClr val="tx1"/>
              </a:solidFill>
            </a:endParaRPr>
          </a:p>
          <a:p>
            <a:pPr lvl="1"/>
            <a:endParaRPr lang="en-US" sz="16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Deployment frequency and lead time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System availability and recovery time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Cost transparency and optimization trends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Compliance and audit outcomes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Adoption of standardized platforms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Metrics evolve as maturity increases.	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28E0BD3-0A29-478C-B740-2010BD598771}"/>
              </a:ext>
            </a:extLst>
          </p:cNvPr>
          <p:cNvSpPr/>
          <p:nvPr/>
        </p:nvSpPr>
        <p:spPr>
          <a:xfrm>
            <a:off x="696000" y="43434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Success Metrics and Measurement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8AA67-FBE6-4008-4DFE-6341348D5433}"/>
              </a:ext>
            </a:extLst>
          </p:cNvPr>
          <p:cNvSpPr txBox="1"/>
          <p:nvPr/>
        </p:nvSpPr>
        <p:spPr>
          <a:xfrm>
            <a:off x="696000" y="1629000"/>
            <a:ext cx="100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Transformation Success Indicators</a:t>
            </a:r>
          </a:p>
        </p:txBody>
      </p:sp>
    </p:spTree>
    <p:extLst>
      <p:ext uri="{BB962C8B-B14F-4D97-AF65-F5344CB8AC3E}">
        <p14:creationId xmlns:p14="http://schemas.microsoft.com/office/powerpoint/2010/main" val="2550029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A2CE1-FA41-0BCB-471C-664E6ED0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EEF93-740E-4656-D152-1C219BDD9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2349000"/>
            <a:ext cx="10992148" cy="3685456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endParaRPr lang="en-IN" sz="18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IN" sz="1800" b="1" dirty="0">
                <a:solidFill>
                  <a:schemeClr val="tx1"/>
                </a:solidFill>
              </a:rPr>
              <a:t>Business Strategy View </a:t>
            </a:r>
            <a:r>
              <a:rPr lang="en-IN" sz="1800" dirty="0">
                <a:solidFill>
                  <a:schemeClr val="tx1"/>
                </a:solidFill>
              </a:rPr>
              <a:t>→ Defines direction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solidFill>
                  <a:schemeClr val="tx1"/>
                </a:solidFill>
              </a:rPr>
              <a:t>Value Stream View </a:t>
            </a:r>
            <a:r>
              <a:rPr lang="en-IN" sz="1800" dirty="0">
                <a:solidFill>
                  <a:schemeClr val="tx1"/>
                </a:solidFill>
              </a:rPr>
              <a:t>→ Identifies value delivery paths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solidFill>
                  <a:schemeClr val="tx1"/>
                </a:solidFill>
              </a:rPr>
              <a:t>Business Capability Map</a:t>
            </a:r>
            <a:r>
              <a:rPr lang="en-IN" sz="1800" dirty="0">
                <a:solidFill>
                  <a:schemeClr val="tx1"/>
                </a:solidFill>
              </a:rPr>
              <a:t> → Identifies capability gaps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solidFill>
                  <a:schemeClr val="tx1"/>
                </a:solidFill>
              </a:rPr>
              <a:t>Target Operating Model</a:t>
            </a:r>
            <a:r>
              <a:rPr lang="en-IN" sz="1800" dirty="0">
                <a:solidFill>
                  <a:schemeClr val="tx1"/>
                </a:solidFill>
              </a:rPr>
              <a:t> → Defines ownership and execution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sz="1800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>
                <a:solidFill>
                  <a:schemeClr val="tx1"/>
                </a:solidFill>
              </a:rPr>
              <a:t>The roadmap operationalizes all architecture views.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4D018D1-C3CB-8A7D-786B-B0A82241EF51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Traceability to Architecture Artefacts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E75CB-156E-C89F-F6B2-430EB059E603}"/>
              </a:ext>
            </a:extLst>
          </p:cNvPr>
          <p:cNvSpPr txBox="1"/>
          <p:nvPr/>
        </p:nvSpPr>
        <p:spPr>
          <a:xfrm>
            <a:off x="503852" y="1629000"/>
            <a:ext cx="10992148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Roadmap Alignment</a:t>
            </a:r>
          </a:p>
        </p:txBody>
      </p:sp>
    </p:spTree>
    <p:extLst>
      <p:ext uri="{BB962C8B-B14F-4D97-AF65-F5344CB8AC3E}">
        <p14:creationId xmlns:p14="http://schemas.microsoft.com/office/powerpoint/2010/main" val="3285438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AE9FB-DF1C-B986-4852-EA14BF4F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BD143-49E3-5346-65BF-BE320F2F8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1629001"/>
            <a:ext cx="10992148" cy="395999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Cloud transformation is a multi-year business journey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Value is delivered incrementally across phases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Governance, delivery, operations, and innovation evolve together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The roadmap balances speed, control, and sustainability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D6F49CD0-01C7-41BC-E217-8A4901E0CB6A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104539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F7805-3713-A497-1F3F-AF86E07A8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83FCC-BC25-3F0F-32B1-F37F0B90F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10800000" cy="3685456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 clear, phased transformation roadmap that enables Northstar Digital Group to evolve into a digitally enabled manufacturing enterprise while managing risk, cost, and complexity.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3DFF563-B20C-844A-A2D3-425FFC5FC91E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Closing Slide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0908B-35AE-ABBB-7BD4-B17B15199B5D}"/>
              </a:ext>
            </a:extLst>
          </p:cNvPr>
          <p:cNvSpPr txBox="1"/>
          <p:nvPr/>
        </p:nvSpPr>
        <p:spPr>
          <a:xfrm>
            <a:off x="696000" y="1629000"/>
            <a:ext cx="108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Outcome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668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4814</TotalTime>
  <Words>637</Words>
  <Application>Microsoft Office PowerPoint</Application>
  <PresentationFormat>Widescreen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Office Theme</vt:lpstr>
      <vt:lpstr>Transformation Roadmap Cloud Transformation at Northstar Digital Group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78</cp:revision>
  <dcterms:created xsi:type="dcterms:W3CDTF">2025-12-13T13:21:05Z</dcterms:created>
  <dcterms:modified xsi:type="dcterms:W3CDTF">2025-12-23T01:13:21Z</dcterms:modified>
</cp:coreProperties>
</file>