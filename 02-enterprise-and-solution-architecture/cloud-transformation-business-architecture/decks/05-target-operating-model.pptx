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3" r:id="rId2"/>
    <p:sldId id="258" r:id="rId3"/>
    <p:sldId id="271" r:id="rId4"/>
    <p:sldId id="285" r:id="rId5"/>
    <p:sldId id="286" r:id="rId6"/>
    <p:sldId id="292" r:id="rId7"/>
    <p:sldId id="287" r:id="rId8"/>
    <p:sldId id="288" r:id="rId9"/>
    <p:sldId id="289" r:id="rId10"/>
    <p:sldId id="269" r:id="rId11"/>
    <p:sldId id="290" r:id="rId12"/>
    <p:sldId id="273" r:id="rId13"/>
    <p:sldId id="284" r:id="rId14"/>
    <p:sldId id="2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4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8" d="100"/>
          <a:sy n="78" d="100"/>
        </p:scale>
        <p:origin x="15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9676C-58D6-4E85-98D4-5B99979E86F1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6EE2E-1B85-4C32-B67C-B2629FD83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89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Sets context. Signals this is </a:t>
            </a:r>
            <a:r>
              <a:rPr lang="en-US" b="1" dirty="0"/>
              <a:t>not an IT inventory</a:t>
            </a:r>
            <a:r>
              <a:rPr lang="en-US" dirty="0"/>
              <a:t>, but a business architecture artefact.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097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Pre-empts confusion between activities, tools, and capabilities.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65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D2B61-3EAF-2B3F-6C8A-90C4628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D40F2-1933-E4DA-9BD5-9DBA8BC6D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0F28C-76DB-71AD-3700-79FFEFC02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</a:t>
            </a:r>
            <a:r>
              <a:rPr lang="en-US" b="1" dirty="0"/>
              <a:t>one-glance executive view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EB766-9758-763B-4E04-FE9BEA289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50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09590-F301-2C8E-F1F2-3744EBC1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BFD32-6FD9-9410-0394-6DB0555FD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CC520-93BA-E533-5B72-C7616BBC9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Positions cloud as a </a:t>
            </a:r>
            <a:r>
              <a:rPr lang="en-US" b="1" dirty="0"/>
              <a:t>governed business initiative</a:t>
            </a:r>
            <a:r>
              <a:rPr lang="en-US" dirty="0"/>
              <a:t>, not ad-hoc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3D063-EA11-AFC5-9A09-9278FBA91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155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7CC9-E0E2-B7F2-F5F2-E0B11BF2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634E5-7D36-778B-0FCD-AE9DA79B8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8CC07-8326-28D2-53CB-82483212C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Positions cloud as a </a:t>
            </a:r>
            <a:r>
              <a:rPr lang="en-US" b="1" dirty="0"/>
              <a:t>governed business initiative</a:t>
            </a:r>
            <a:r>
              <a:rPr lang="en-US" dirty="0"/>
              <a:t>, not ad-hoc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15452-D459-9917-F60A-3AEB74D61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999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9E4A-074E-DF89-E335-2DC48299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9C98B-2755-33F5-0D33-301E4F0A5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D8B95-E9B3-3644-8365-430BCE1B5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Bridges business demand to execution without naming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4CC08-153F-59A3-7C43-7C57BF903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002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36105-6E6D-7B21-85BF-B0F06DEE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87BDC-ED2F-CA6A-32BD-020684AF1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17656-B984-D59E-E9D5-F1A598E93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maturity beyond “go-live” — very important in interviews.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51D25-EE41-C0EB-161D-292411838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161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5F46-2C43-D0B6-0CEF-A2365124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3AB60-4FF7-2B9E-B37C-AEF63B804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D37E2-CC8A-AC17-E63E-44A1D4E60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Demonstrates enterprise-scale thinking, not app-level security.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179C3-4F18-C9FA-DF23-5E2C9FAF8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01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It proves strategic alignment.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105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A113-AE9C-FA3C-D295-B8594C146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F58BA-2131-35EF-B474-C37C969E6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C3BED-76A8-B468-5DE3-8705B864E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It proves strategic alignment.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1AF2-5886-46BC-77EF-E946AD5EC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1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Answers the unspoken executive question: </a:t>
            </a:r>
            <a:r>
              <a:rPr lang="en-US" i="1" dirty="0"/>
              <a:t>“So what?”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799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Clean handoff to the next artefact.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63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72BD-338D-1752-B719-8A69A558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46592-BB4D-D8D6-4A79-4C3F9B63B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3C0C7-36F8-AA12-3E45-8663E3BD0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Clean handoff to the next artefact.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0664C-F969-999D-56CE-073DBA1E0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6EE2E-1B85-4C32-B67C-B2629FD836B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4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9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2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7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1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6792E24-C5A3-5F0E-E45C-8DEAD4F3399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790131" y="5651466"/>
            <a:ext cx="2019249" cy="1537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65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F7C6281-546D-97BA-2D5C-54F7958656A1}"/>
              </a:ext>
            </a:extLst>
          </p:cNvPr>
          <p:cNvSpPr/>
          <p:nvPr/>
        </p:nvSpPr>
        <p:spPr>
          <a:xfrm>
            <a:off x="3002280" y="213360"/>
            <a:ext cx="6256020" cy="5974080"/>
          </a:xfrm>
          <a:prstGeom prst="flowChartConnector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500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95000">
                <a:schemeClr val="accent1">
                  <a:shade val="100000"/>
                  <a:satMod val="115000"/>
                </a:schemeClr>
              </a:gs>
            </a:gsLst>
            <a:lin ang="5400000" scaled="0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33D1-3B2C-FAB2-F576-0287340A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700" y="1129004"/>
            <a:ext cx="5844540" cy="3267736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4400" dirty="0">
                <a:solidFill>
                  <a:schemeClr val="bg1"/>
                </a:solidFill>
              </a:rPr>
              <a:t>Target Operating Model </a:t>
            </a:r>
            <a:br>
              <a:rPr lang="en-IN" sz="4800" dirty="0">
                <a:solidFill>
                  <a:schemeClr val="bg1"/>
                </a:solidFill>
              </a:rPr>
            </a:b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Transformation at Northstar Digital Group</a:t>
            </a:r>
            <a:br>
              <a:rPr lang="en-IN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7542A-60C5-B98A-FDE5-A8B12341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0" y="4419600"/>
            <a:ext cx="4680000" cy="57912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How the enterprise is organized to deliver, govern, and operate cloud-enabled capabilities</a:t>
            </a:r>
            <a:endParaRPr lang="en-IN" sz="3200" dirty="0">
              <a:solidFill>
                <a:srgbClr val="FFFF00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9BB8CB7-1FAC-ECE1-C3C2-F5D463821095}"/>
              </a:ext>
            </a:extLst>
          </p:cNvPr>
          <p:cNvCxnSpPr>
            <a:cxnSpLocks/>
          </p:cNvCxnSpPr>
          <p:nvPr/>
        </p:nvCxnSpPr>
        <p:spPr>
          <a:xfrm>
            <a:off x="1615440" y="6400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26A66B6-2B87-7C01-5A92-985D13022792}"/>
              </a:ext>
            </a:extLst>
          </p:cNvPr>
          <p:cNvCxnSpPr>
            <a:cxnSpLocks/>
          </p:cNvCxnSpPr>
          <p:nvPr/>
        </p:nvCxnSpPr>
        <p:spPr>
          <a:xfrm>
            <a:off x="1013460" y="9448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2E8CD61-D9EA-3353-2BAA-5756E0FF6029}"/>
              </a:ext>
            </a:extLst>
          </p:cNvPr>
          <p:cNvCxnSpPr>
            <a:cxnSpLocks/>
          </p:cNvCxnSpPr>
          <p:nvPr/>
        </p:nvCxnSpPr>
        <p:spPr>
          <a:xfrm>
            <a:off x="556260" y="12496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3036F7E-FE50-67C1-146A-E79F40AF220C}"/>
              </a:ext>
            </a:extLst>
          </p:cNvPr>
          <p:cNvCxnSpPr>
            <a:cxnSpLocks/>
          </p:cNvCxnSpPr>
          <p:nvPr/>
        </p:nvCxnSpPr>
        <p:spPr>
          <a:xfrm>
            <a:off x="10477500" y="42367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5B97D4F-1F4B-C1A8-1553-4202AE75C63D}"/>
              </a:ext>
            </a:extLst>
          </p:cNvPr>
          <p:cNvCxnSpPr>
            <a:cxnSpLocks/>
          </p:cNvCxnSpPr>
          <p:nvPr/>
        </p:nvCxnSpPr>
        <p:spPr>
          <a:xfrm>
            <a:off x="9875520" y="45415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95EB2F-0858-99F9-F412-3A249DAD45E1}"/>
              </a:ext>
            </a:extLst>
          </p:cNvPr>
          <p:cNvCxnSpPr>
            <a:cxnSpLocks/>
          </p:cNvCxnSpPr>
          <p:nvPr/>
        </p:nvCxnSpPr>
        <p:spPr>
          <a:xfrm>
            <a:off x="9418320" y="48463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B1806E6-45DB-39EE-42D7-523A6FEB1BEF}"/>
              </a:ext>
            </a:extLst>
          </p:cNvPr>
          <p:cNvCxnSpPr>
            <a:cxnSpLocks/>
          </p:cNvCxnSpPr>
          <p:nvPr/>
        </p:nvCxnSpPr>
        <p:spPr>
          <a:xfrm>
            <a:off x="3067050" y="3665220"/>
            <a:ext cx="914400" cy="914400"/>
          </a:xfrm>
          <a:prstGeom prst="curvedConnector3">
            <a:avLst>
              <a:gd name="adj1" fmla="val -75001"/>
            </a:avLst>
          </a:prstGeom>
          <a:ln w="228600">
            <a:solidFill>
              <a:schemeClr val="accent2">
                <a:lumMod val="75000"/>
              </a:schemeClr>
            </a:solidFill>
            <a:tailEnd type="triangle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AF82C92-844C-5AEA-478A-3EA6BEF7DC8C}"/>
              </a:ext>
            </a:extLst>
          </p:cNvPr>
          <p:cNvSpPr txBox="1"/>
          <p:nvPr/>
        </p:nvSpPr>
        <p:spPr>
          <a:xfrm>
            <a:off x="0" y="6334780"/>
            <a:ext cx="120559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Disclaimer: </a:t>
            </a:r>
            <a:r>
              <a:rPr lang="en-US" sz="1600" dirty="0"/>
              <a:t> Fictional enterprise case study for portfolio demonstration</a:t>
            </a:r>
          </a:p>
        </p:txBody>
      </p:sp>
      <p:pic>
        <p:nvPicPr>
          <p:cNvPr id="1028" name="Picture 4" descr="Operating model - Free business and finance icons">
            <a:extLst>
              <a:ext uri="{FF2B5EF4-FFF2-40B4-BE49-F238E27FC236}">
                <a16:creationId xmlns:a16="http://schemas.microsoft.com/office/drawing/2014/main" id="{4049D069-6B9B-07BA-29A9-F08E0874D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000" y="0"/>
            <a:ext cx="1269000" cy="126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34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D393-4269-A465-24DD-FA12087C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989000"/>
            <a:ext cx="6480000" cy="324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Define how cloud-related capabilities are owned, delivered, and governed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Align people, processes, and decision rights to business outcomes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Enable scalable, repeatable, and secure cloud adoption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Support long-term operational and financial sustainability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CF3204B-E949-CC10-360B-13505F53D56D}"/>
              </a:ext>
            </a:extLst>
          </p:cNvPr>
          <p:cNvSpPr/>
          <p:nvPr/>
        </p:nvSpPr>
        <p:spPr>
          <a:xfrm>
            <a:off x="503852" y="434340"/>
            <a:ext cx="1135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Purpose of the Target Operating Model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9D6A466-DF29-DBD9-2270-026D8199018C}"/>
              </a:ext>
            </a:extLst>
          </p:cNvPr>
          <p:cNvSpPr txBox="1">
            <a:spLocks/>
          </p:cNvSpPr>
          <p:nvPr/>
        </p:nvSpPr>
        <p:spPr>
          <a:xfrm>
            <a:off x="7536000" y="1989000"/>
            <a:ext cx="3960000" cy="324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operating model enables value streams — it does not constrain them.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23939-B351-5920-0774-4D113F83C64D}"/>
              </a:ext>
            </a:extLst>
          </p:cNvPr>
          <p:cNvSpPr txBox="1"/>
          <p:nvPr/>
        </p:nvSpPr>
        <p:spPr>
          <a:xfrm>
            <a:off x="7536000" y="1269000"/>
            <a:ext cx="39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Key Principle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63E0E-0670-5A41-9D57-CD9505262622}"/>
              </a:ext>
            </a:extLst>
          </p:cNvPr>
          <p:cNvSpPr txBox="1"/>
          <p:nvPr/>
        </p:nvSpPr>
        <p:spPr>
          <a:xfrm>
            <a:off x="696000" y="1269000"/>
            <a:ext cx="64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Purpose</a:t>
            </a:r>
          </a:p>
        </p:txBody>
      </p:sp>
    </p:spTree>
    <p:extLst>
      <p:ext uri="{BB962C8B-B14F-4D97-AF65-F5344CB8AC3E}">
        <p14:creationId xmlns:p14="http://schemas.microsoft.com/office/powerpoint/2010/main" val="2132799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775C5-EFCB-7D2F-B47C-142B740D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3FEE-828E-F4C1-7CA1-45A9E4AC1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2349000"/>
            <a:ext cx="1116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Product and platform-oriented ownership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Central guardrails with federated execution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Automation-first delivery and operations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Security, compliance, and financial accountability embedded by design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C2C9834D-DB0F-0C12-E1B2-F284FFA55179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Operating Model Design Principles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8E11B-BE83-A009-816C-1235736114B2}"/>
              </a:ext>
            </a:extLst>
          </p:cNvPr>
          <p:cNvSpPr txBox="1"/>
          <p:nvPr/>
        </p:nvSpPr>
        <p:spPr>
          <a:xfrm>
            <a:off x="336000" y="5949000"/>
            <a:ext cx="97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These principles guide all structural and role decisions.</a:t>
            </a:r>
            <a:endParaRPr lang="en-IN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629A2-23E1-C505-8626-CF5342FA5F20}"/>
              </a:ext>
            </a:extLst>
          </p:cNvPr>
          <p:cNvSpPr txBox="1"/>
          <p:nvPr/>
        </p:nvSpPr>
        <p:spPr>
          <a:xfrm>
            <a:off x="336000" y="1629000"/>
            <a:ext cx="111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78390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85322-6C28-722D-1E61-2BFB0B7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04EC-994B-ED16-20C1-45D514C2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2349000"/>
            <a:ext cx="1116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Central Cloud Platform &amp; Governance function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Federated Product and Workload Teams aligned to business domains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Embedded Security, Risk, and Finance capabilities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Shared Enablement and Innovation services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5B9C895-0EB8-DA1D-42C3-15612978BDFD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High-Level Operating Model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E8820-88EE-7350-0B98-A8AEA7FD4E75}"/>
              </a:ext>
            </a:extLst>
          </p:cNvPr>
          <p:cNvSpPr txBox="1"/>
          <p:nvPr/>
        </p:nvSpPr>
        <p:spPr>
          <a:xfrm>
            <a:off x="196103" y="5930402"/>
            <a:ext cx="11520000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 Balance between enterprise control and business agility.</a:t>
            </a:r>
            <a:endParaRPr lang="en-US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150201-52D6-2F49-84BE-B5951F3E9A9A}"/>
              </a:ext>
            </a:extLst>
          </p:cNvPr>
          <p:cNvSpPr txBox="1"/>
          <p:nvPr/>
        </p:nvSpPr>
        <p:spPr>
          <a:xfrm>
            <a:off x="336000" y="1629000"/>
            <a:ext cx="111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Target-State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169970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59E9F-AB4C-3C90-8063-8219954B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6EF89-0B54-2A4F-557E-A3DE72A24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2880000" cy="2901752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Strategy and Governance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Platform and Enablement</a:t>
            </a:r>
          </a:p>
          <a:p>
            <a:endParaRPr lang="en-US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7026062-B0EC-DD10-48E4-3E2DF3A69273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Core Operating Model Components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6299C-8A4A-17F5-1733-88128C0CED83}"/>
              </a:ext>
            </a:extLst>
          </p:cNvPr>
          <p:cNvSpPr txBox="1"/>
          <p:nvPr/>
        </p:nvSpPr>
        <p:spPr>
          <a:xfrm>
            <a:off x="696000" y="5949000"/>
            <a:ext cx="82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/>
              <a:t>Each component supports one or more value streams.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AD7BE2-B639-2494-C387-D67F9956A5ED}"/>
              </a:ext>
            </a:extLst>
          </p:cNvPr>
          <p:cNvSpPr txBox="1">
            <a:spLocks/>
          </p:cNvSpPr>
          <p:nvPr/>
        </p:nvSpPr>
        <p:spPr>
          <a:xfrm>
            <a:off x="4296000" y="2349000"/>
            <a:ext cx="3240000" cy="2901752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Delivery and Product Teams</a:t>
            </a:r>
          </a:p>
          <a:p>
            <a:pPr lvl="1"/>
            <a:r>
              <a:rPr lang="en-US" sz="1800" dirty="0"/>
              <a:t>Operations and Optimization</a:t>
            </a:r>
          </a:p>
          <a:p>
            <a:endParaRPr lang="en-US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47930D-ED1E-BAFD-618C-605910582606}"/>
              </a:ext>
            </a:extLst>
          </p:cNvPr>
          <p:cNvSpPr txBox="1">
            <a:spLocks/>
          </p:cNvSpPr>
          <p:nvPr/>
        </p:nvSpPr>
        <p:spPr>
          <a:xfrm>
            <a:off x="8256000" y="2349000"/>
            <a:ext cx="3240000" cy="28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Security, Risk, and Compliance</a:t>
            </a:r>
          </a:p>
          <a:p>
            <a:pPr lvl="1"/>
            <a:r>
              <a:rPr lang="en-US" dirty="0"/>
              <a:t>Financial Management and Accountability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D79DDD-D287-9F9C-AA36-158490A94F83}"/>
              </a:ext>
            </a:extLst>
          </p:cNvPr>
          <p:cNvSpPr txBox="1"/>
          <p:nvPr/>
        </p:nvSpPr>
        <p:spPr>
          <a:xfrm>
            <a:off x="696000" y="1629000"/>
            <a:ext cx="28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Strategy &amp; Governance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4ECA87-EBC5-B2D1-51D3-565AB7D6641C}"/>
              </a:ext>
            </a:extLst>
          </p:cNvPr>
          <p:cNvSpPr txBox="1"/>
          <p:nvPr/>
        </p:nvSpPr>
        <p:spPr>
          <a:xfrm>
            <a:off x="4296000" y="1629000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Delivery &amp; Operations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46975-E719-905B-D9D6-4C760AD4CCBD}"/>
              </a:ext>
            </a:extLst>
          </p:cNvPr>
          <p:cNvSpPr txBox="1"/>
          <p:nvPr/>
        </p:nvSpPr>
        <p:spPr>
          <a:xfrm>
            <a:off x="8256000" y="1629000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Risk &amp; Finance</a:t>
            </a:r>
          </a:p>
        </p:txBody>
      </p:sp>
    </p:spTree>
    <p:extLst>
      <p:ext uri="{BB962C8B-B14F-4D97-AF65-F5344CB8AC3E}">
        <p14:creationId xmlns:p14="http://schemas.microsoft.com/office/powerpoint/2010/main" val="242975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6742E-0816-4B70-6BF7-A5EEDBB1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04EFE-E0F0-8599-8735-0FBA0C242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2709001"/>
            <a:ext cx="5400000" cy="287999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Define cloud strategy, standards, and guardrails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Own core cloud platforms and shared services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Establish security, compliance, and financial controls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Provide tooling, automation, and reference architectures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E5E9701-04CB-F8BE-F76C-895FD5A98DF0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Centralized Capabilities (Enterprise-Level)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A90D1-FCD6-62E1-F5D9-6AF10A34680A}"/>
              </a:ext>
            </a:extLst>
          </p:cNvPr>
          <p:cNvSpPr txBox="1"/>
          <p:nvPr/>
        </p:nvSpPr>
        <p:spPr>
          <a:xfrm>
            <a:off x="336000" y="1269000"/>
            <a:ext cx="10800000" cy="461665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Cloud Platform and Governance (Central)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4ABE57-44C7-248F-9A65-46BB5B9B886F}"/>
              </a:ext>
            </a:extLst>
          </p:cNvPr>
          <p:cNvSpPr txBox="1">
            <a:spLocks/>
          </p:cNvSpPr>
          <p:nvPr/>
        </p:nvSpPr>
        <p:spPr>
          <a:xfrm>
            <a:off x="6456000" y="2709000"/>
            <a:ext cx="4680000" cy="28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Platform reliability</a:t>
            </a:r>
          </a:p>
          <a:p>
            <a:pPr lvl="1"/>
            <a:r>
              <a:rPr lang="en-US" dirty="0"/>
              <a:t>Policy enforcement</a:t>
            </a:r>
          </a:p>
          <a:p>
            <a:pPr lvl="1"/>
            <a:r>
              <a:rPr lang="en-US" dirty="0"/>
              <a:t>Cost transparency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F2F0A-DC35-2D60-E974-D0C75FF142BD}"/>
              </a:ext>
            </a:extLst>
          </p:cNvPr>
          <p:cNvSpPr txBox="1"/>
          <p:nvPr/>
        </p:nvSpPr>
        <p:spPr>
          <a:xfrm>
            <a:off x="336000" y="1989000"/>
            <a:ext cx="54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Responsibilities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37455-636A-2FB2-822E-125B14C33270}"/>
              </a:ext>
            </a:extLst>
          </p:cNvPr>
          <p:cNvSpPr txBox="1"/>
          <p:nvPr/>
        </p:nvSpPr>
        <p:spPr>
          <a:xfrm>
            <a:off x="6456000" y="1989000"/>
            <a:ext cx="46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Accountability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57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0B380-BC34-45D3-B56D-ABEC3696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31674-EB1B-BE86-AFC5-9063D8C9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2709000"/>
            <a:ext cx="5760000" cy="252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Own business workloads end to end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Deliver and operate applications on cloud platforms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Optimize performance and cost for owned workloads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Comply with enterprise guardrails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591772D-1EB5-4440-B32A-D141158181F8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Federated Capabilities (Business-Aligned)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04FBB-8205-26F9-94B7-C72EE7783982}"/>
              </a:ext>
            </a:extLst>
          </p:cNvPr>
          <p:cNvSpPr txBox="1"/>
          <p:nvPr/>
        </p:nvSpPr>
        <p:spPr>
          <a:xfrm>
            <a:off x="336000" y="1269000"/>
            <a:ext cx="11160000" cy="461665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Product and Workload Teams (Federated)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B39D07-BF6A-8AF1-6AA9-27227974B46D}"/>
              </a:ext>
            </a:extLst>
          </p:cNvPr>
          <p:cNvSpPr txBox="1">
            <a:spLocks/>
          </p:cNvSpPr>
          <p:nvPr/>
        </p:nvSpPr>
        <p:spPr>
          <a:xfrm>
            <a:off x="6816000" y="2709000"/>
            <a:ext cx="4680000" cy="252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Business outcomes</a:t>
            </a:r>
          </a:p>
          <a:p>
            <a:pPr lvl="1"/>
            <a:r>
              <a:rPr lang="en-US" dirty="0"/>
              <a:t>Service quality</a:t>
            </a:r>
          </a:p>
          <a:p>
            <a:pPr lvl="1"/>
            <a:r>
              <a:rPr lang="en-US" dirty="0"/>
              <a:t>Cost ownership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7BF2B-CF4F-5F32-7695-9EADAB317609}"/>
              </a:ext>
            </a:extLst>
          </p:cNvPr>
          <p:cNvSpPr txBox="1"/>
          <p:nvPr/>
        </p:nvSpPr>
        <p:spPr>
          <a:xfrm>
            <a:off x="336000" y="1989000"/>
            <a:ext cx="57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Responsibilities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758D5-F006-B762-6FE5-91E5C08A3DCE}"/>
              </a:ext>
            </a:extLst>
          </p:cNvPr>
          <p:cNvSpPr txBox="1"/>
          <p:nvPr/>
        </p:nvSpPr>
        <p:spPr>
          <a:xfrm>
            <a:off x="6816000" y="1989000"/>
            <a:ext cx="46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Accountability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53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2576C-DF20-72F1-149C-82491A3BA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22CC4-DC8D-BEA4-FC0A-21448A96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2349000"/>
            <a:ext cx="1116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Security and compliance defined centrally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Controls enforced automatically through platforms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Risk management embedded into delivery and operations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Audit and reporting supported continuously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B984756-824A-DBFE-5C2C-CFFC56F4463D}"/>
              </a:ext>
            </a:extLst>
          </p:cNvPr>
          <p:cNvSpPr/>
          <p:nvPr/>
        </p:nvSpPr>
        <p:spPr>
          <a:xfrm>
            <a:off x="336000" y="434340"/>
            <a:ext cx="1116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Security, Risk, and Compliance 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C78AF-BE6E-F247-C607-634870D9E5CF}"/>
              </a:ext>
            </a:extLst>
          </p:cNvPr>
          <p:cNvSpPr txBox="1"/>
          <p:nvPr/>
        </p:nvSpPr>
        <p:spPr>
          <a:xfrm>
            <a:off x="336000" y="5949000"/>
            <a:ext cx="1116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/>
              <a:t>Outcome: Security and compliance become enablers, not blockers.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B7E742-BEAD-A4EE-5386-188D6F7EDB60}"/>
              </a:ext>
            </a:extLst>
          </p:cNvPr>
          <p:cNvSpPr txBox="1"/>
          <p:nvPr/>
        </p:nvSpPr>
        <p:spPr>
          <a:xfrm>
            <a:off x="336000" y="1629000"/>
            <a:ext cx="111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Embedded Security and Risk Model</a:t>
            </a:r>
          </a:p>
        </p:txBody>
      </p:sp>
    </p:spTree>
    <p:extLst>
      <p:ext uri="{BB962C8B-B14F-4D97-AF65-F5344CB8AC3E}">
        <p14:creationId xmlns:p14="http://schemas.microsoft.com/office/powerpoint/2010/main" val="22431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2F18-C1C1-75A1-8AE8-DB0964AD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3A5E-BFE0-16B4-CA7E-B6BCDD03B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1080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Central financial governance and policies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Distributed cost ownership at product and workload level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Usage-based cost transparency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Continuous cost optimization practices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10FE5FA4-588F-7EB0-9742-FF33E786AB41}"/>
              </a:ext>
            </a:extLst>
          </p:cNvPr>
          <p:cNvSpPr/>
          <p:nvPr/>
        </p:nvSpPr>
        <p:spPr>
          <a:xfrm>
            <a:off x="696000" y="43434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Financial Management and Cost Accountability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3C2CB-6A62-D17F-8FD9-898120FD03FD}"/>
              </a:ext>
            </a:extLst>
          </p:cNvPr>
          <p:cNvSpPr txBox="1"/>
          <p:nvPr/>
        </p:nvSpPr>
        <p:spPr>
          <a:xfrm>
            <a:off x="696000" y="6001730"/>
            <a:ext cx="9720000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Outcome: Clear accountability for technology spend and value.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F6783-AC13-D87F-BE04-854D9BD56FEE}"/>
              </a:ext>
            </a:extLst>
          </p:cNvPr>
          <p:cNvSpPr txBox="1"/>
          <p:nvPr/>
        </p:nvSpPr>
        <p:spPr>
          <a:xfrm>
            <a:off x="696000" y="1629000"/>
            <a:ext cx="108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Financial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2290073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A7E08-2E0A-A784-D111-C7F91EA1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E79F2615-5297-3997-8EF8-920CFD2770F1}"/>
              </a:ext>
            </a:extLst>
          </p:cNvPr>
          <p:cNvSpPr/>
          <p:nvPr/>
        </p:nvSpPr>
        <p:spPr>
          <a:xfrm>
            <a:off x="606490" y="388620"/>
            <a:ext cx="1096347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Decision Rights and Governance</a:t>
            </a:r>
            <a:endParaRPr lang="en-IN" sz="3200" b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8633823-0D04-1584-6143-AB8A2A540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266729"/>
              </p:ext>
            </p:extLst>
          </p:nvPr>
        </p:nvGraphicFramePr>
        <p:xfrm>
          <a:off x="696000" y="1629000"/>
          <a:ext cx="10080000" cy="3601695"/>
        </p:xfrm>
        <a:graphic>
          <a:graphicData uri="http://schemas.openxmlformats.org/drawingml/2006/table">
            <a:tbl>
              <a:tblPr/>
              <a:tblGrid>
                <a:gridCol w="2938364">
                  <a:extLst>
                    <a:ext uri="{9D8B030D-6E8A-4147-A177-3AD203B41FA5}">
                      <a16:colId xmlns:a16="http://schemas.microsoft.com/office/drawing/2014/main" val="3292743293"/>
                    </a:ext>
                  </a:extLst>
                </a:gridCol>
                <a:gridCol w="7141636">
                  <a:extLst>
                    <a:ext uri="{9D8B030D-6E8A-4147-A177-3AD203B41FA5}">
                      <a16:colId xmlns:a16="http://schemas.microsoft.com/office/drawing/2014/main" val="154747953"/>
                    </a:ext>
                  </a:extLst>
                </a:gridCol>
              </a:tblGrid>
              <a:tr h="520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Decision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Primary 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49729"/>
                  </a:ext>
                </a:extLst>
              </a:tr>
              <a:tr h="639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Cloud standards and guardrails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Central platform 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350416"/>
                  </a:ext>
                </a:extLst>
              </a:tr>
              <a:tr h="638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Workload design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Product teams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664741"/>
                  </a:ext>
                </a:extLst>
              </a:tr>
              <a:tr h="639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Security and compliance 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Central security 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63476"/>
                  </a:ext>
                </a:extLst>
              </a:tr>
              <a:tr h="639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Cost optimization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Product teams (within guardrails)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36034"/>
                  </a:ext>
                </a:extLst>
              </a:tr>
              <a:tr h="520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Platform evolution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Central platform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4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6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E3C21-8E3F-415D-EE10-AD38DD63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F5AA4248-32A0-7026-3501-EB5E0194F459}"/>
              </a:ext>
            </a:extLst>
          </p:cNvPr>
          <p:cNvSpPr/>
          <p:nvPr/>
        </p:nvSpPr>
        <p:spPr>
          <a:xfrm>
            <a:off x="1056000" y="388620"/>
            <a:ext cx="1008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Alignment to Value Streams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BD41556E-F03C-E483-1216-95C2091386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729443"/>
              </p:ext>
            </p:extLst>
          </p:nvPr>
        </p:nvGraphicFramePr>
        <p:xfrm>
          <a:off x="1056000" y="2349000"/>
          <a:ext cx="9720000" cy="3239999"/>
        </p:xfrm>
        <a:graphic>
          <a:graphicData uri="http://schemas.openxmlformats.org/drawingml/2006/table">
            <a:tbl>
              <a:tblPr/>
              <a:tblGrid>
                <a:gridCol w="2833422">
                  <a:extLst>
                    <a:ext uri="{9D8B030D-6E8A-4147-A177-3AD203B41FA5}">
                      <a16:colId xmlns:a16="http://schemas.microsoft.com/office/drawing/2014/main" val="3292743293"/>
                    </a:ext>
                  </a:extLst>
                </a:gridCol>
                <a:gridCol w="6886578">
                  <a:extLst>
                    <a:ext uri="{9D8B030D-6E8A-4147-A177-3AD203B41FA5}">
                      <a16:colId xmlns:a16="http://schemas.microsoft.com/office/drawing/2014/main" val="154747953"/>
                    </a:ext>
                  </a:extLst>
                </a:gridCol>
              </a:tblGrid>
              <a:tr h="538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Value 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Operating Model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49729"/>
                  </a:ext>
                </a:extLst>
              </a:tr>
              <a:tr h="53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Demand-to-Deployment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Product teams + platform enablement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350416"/>
                  </a:ext>
                </a:extLst>
              </a:tr>
              <a:tr h="545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Operate-and-Optimize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Shared operations + product ownership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664741"/>
                  </a:ext>
                </a:extLst>
              </a:tr>
              <a:tr h="53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Govern-and-Secure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Central guardrails + automated 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63476"/>
                  </a:ext>
                </a:extLst>
              </a:tr>
              <a:tr h="53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Enable-and-Innovate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Enablement teams + experimentation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36034"/>
                  </a:ext>
                </a:extLst>
              </a:tr>
              <a:tr h="538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Value 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Operating Model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483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5E109A-D6B4-2EAD-5F3C-C65647352786}"/>
              </a:ext>
            </a:extLst>
          </p:cNvPr>
          <p:cNvSpPr txBox="1"/>
          <p:nvPr/>
        </p:nvSpPr>
        <p:spPr>
          <a:xfrm>
            <a:off x="1068077" y="1526834"/>
            <a:ext cx="9707923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Operating Model Support for Value Streams</a:t>
            </a:r>
          </a:p>
        </p:txBody>
      </p:sp>
    </p:spTree>
    <p:extLst>
      <p:ext uri="{BB962C8B-B14F-4D97-AF65-F5344CB8AC3E}">
        <p14:creationId xmlns:p14="http://schemas.microsoft.com/office/powerpoint/2010/main" val="398985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B57CD-D92A-6FAC-E376-FBEDB71D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DF4D-DDD6-731F-AD45-C7894489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000" y="2349000"/>
            <a:ext cx="1008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Cloud and platform engineering skills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Product ownership and lifecycle accountability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Automation and reliability engineering practices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Financial and cost management awareness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Security-by-design mindset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FB77880-FE92-06A6-4393-195B9C64856E}"/>
              </a:ext>
            </a:extLst>
          </p:cNvPr>
          <p:cNvSpPr/>
          <p:nvPr/>
        </p:nvSpPr>
        <p:spPr>
          <a:xfrm>
            <a:off x="1056000" y="43434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Skills and Capability Evolution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683E2-7C7A-2727-65DF-635414DE9680}"/>
              </a:ext>
            </a:extLst>
          </p:cNvPr>
          <p:cNvSpPr txBox="1"/>
          <p:nvPr/>
        </p:nvSpPr>
        <p:spPr>
          <a:xfrm>
            <a:off x="1056000" y="5949000"/>
            <a:ext cx="93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The operating model evolves people, not just structure.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7B7DEC-4066-F53A-D5C5-FCA331A13771}"/>
              </a:ext>
            </a:extLst>
          </p:cNvPr>
          <p:cNvSpPr txBox="1"/>
          <p:nvPr/>
        </p:nvSpPr>
        <p:spPr>
          <a:xfrm>
            <a:off x="1056000" y="1629000"/>
            <a:ext cx="100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People and Skills Enablement</a:t>
            </a:r>
          </a:p>
        </p:txBody>
      </p:sp>
    </p:spTree>
    <p:extLst>
      <p:ext uri="{BB962C8B-B14F-4D97-AF65-F5344CB8AC3E}">
        <p14:creationId xmlns:p14="http://schemas.microsoft.com/office/powerpoint/2010/main" val="318005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566AB-94D2-7A35-8C54-D691977A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0172-4DF0-9F4C-6B3E-8D11D4D8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000" y="2349000"/>
            <a:ext cx="1008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Faster delivery with reduced risk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Improved operational resilience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Clear ownership and accountability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Better cost control and predictability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Sustainable innovation capability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1E560AD-46F5-2E19-A2AC-45A0C6375993}"/>
              </a:ext>
            </a:extLst>
          </p:cNvPr>
          <p:cNvSpPr/>
          <p:nvPr/>
        </p:nvSpPr>
        <p:spPr>
          <a:xfrm>
            <a:off x="1056000" y="43434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Benefits of the Target Operating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0FDA3-DAA7-4233-6709-A9E2A5DD8D1C}"/>
              </a:ext>
            </a:extLst>
          </p:cNvPr>
          <p:cNvSpPr txBox="1"/>
          <p:nvPr/>
        </p:nvSpPr>
        <p:spPr>
          <a:xfrm>
            <a:off x="1056000" y="1629000"/>
            <a:ext cx="100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Business Benefits</a:t>
            </a:r>
          </a:p>
        </p:txBody>
      </p:sp>
    </p:spTree>
    <p:extLst>
      <p:ext uri="{BB962C8B-B14F-4D97-AF65-F5344CB8AC3E}">
        <p14:creationId xmlns:p14="http://schemas.microsoft.com/office/powerpoint/2010/main" val="916687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86953-CA75-8132-CF32-757AF486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5604-32E8-AFB2-A1E1-9EE183C1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000" y="2349000"/>
            <a:ext cx="1008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Business Capability Map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Value Stream execution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Transformation roadmap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Governance and funding models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F7BEC71-1E58-B450-E4CC-5C2C57864415}"/>
              </a:ext>
            </a:extLst>
          </p:cNvPr>
          <p:cNvSpPr/>
          <p:nvPr/>
        </p:nvSpPr>
        <p:spPr>
          <a:xfrm>
            <a:off x="1056000" y="43434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Relationship to Other Architecture 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FF25D-9412-26F4-BEA9-DC8ABC46A745}"/>
              </a:ext>
            </a:extLst>
          </p:cNvPr>
          <p:cNvSpPr txBox="1"/>
          <p:nvPr/>
        </p:nvSpPr>
        <p:spPr>
          <a:xfrm>
            <a:off x="1056000" y="5589000"/>
            <a:ext cx="537600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50000"/>
              </a:lnSpc>
              <a:buNone/>
            </a:pPr>
            <a:r>
              <a:rPr lang="en-US" b="1" dirty="0"/>
              <a:t>Next Artefact: Transformation Roadmap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6E61E-E10D-FF66-E491-958F9D037E15}"/>
              </a:ext>
            </a:extLst>
          </p:cNvPr>
          <p:cNvSpPr txBox="1"/>
          <p:nvPr/>
        </p:nvSpPr>
        <p:spPr>
          <a:xfrm>
            <a:off x="1056000" y="1629000"/>
            <a:ext cx="100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This Operating Model Enables</a:t>
            </a:r>
          </a:p>
        </p:txBody>
      </p:sp>
    </p:spTree>
    <p:extLst>
      <p:ext uri="{BB962C8B-B14F-4D97-AF65-F5344CB8AC3E}">
        <p14:creationId xmlns:p14="http://schemas.microsoft.com/office/powerpoint/2010/main" val="1407405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4859</TotalTime>
  <Words>711</Words>
  <Application>Microsoft Office PowerPoint</Application>
  <PresentationFormat>Widescreen</PresentationFormat>
  <Paragraphs>174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Target Operating Model  Cloud Transformation at Northstar Digital Group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Pandey</dc:creator>
  <cp:lastModifiedBy>Sambhav Pandey</cp:lastModifiedBy>
  <cp:revision>73</cp:revision>
  <dcterms:created xsi:type="dcterms:W3CDTF">2025-12-13T13:21:05Z</dcterms:created>
  <dcterms:modified xsi:type="dcterms:W3CDTF">2025-12-23T01:11:38Z</dcterms:modified>
</cp:coreProperties>
</file>