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70" r:id="rId4"/>
    <p:sldId id="271" r:id="rId5"/>
    <p:sldId id="272" r:id="rId6"/>
    <p:sldId id="281" r:id="rId7"/>
    <p:sldId id="282" r:id="rId8"/>
    <p:sldId id="283" r:id="rId9"/>
    <p:sldId id="269" r:id="rId10"/>
    <p:sldId id="273" r:id="rId11"/>
    <p:sldId id="284" r:id="rId12"/>
    <p:sldId id="27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0" d="100"/>
          <a:sy n="80" d="100"/>
        </p:scale>
        <p:origin x="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A37058E-7E88-FDB8-2189-0DDF46C8D7A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002280" y="21336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584454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800" dirty="0">
                <a:solidFill>
                  <a:schemeClr val="bg1"/>
                </a:solidFill>
              </a:rPr>
              <a:t>Value Stream View 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670" y="4419600"/>
            <a:ext cx="3611882" cy="579120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Fictional Enterprise Case Study for Portfolio Demonstration</a:t>
            </a:r>
            <a:endParaRPr lang="en-IN" sz="1400" dirty="0">
              <a:solidFill>
                <a:srgbClr val="FFFF00"/>
              </a:solidFill>
            </a:endParaRPr>
          </a:p>
          <a:p>
            <a:endParaRPr lang="en-IN" sz="2800" dirty="0">
              <a:solidFill>
                <a:srgbClr val="FFFF00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Disclaimer: </a:t>
            </a:r>
            <a:r>
              <a:rPr lang="en-US" sz="1400" dirty="0"/>
              <a:t> Fictional enterprise case study for portfolio demonstration</a:t>
            </a:r>
          </a:p>
        </p:txBody>
      </p:sp>
      <p:pic>
        <p:nvPicPr>
          <p:cNvPr id="1032" name="Picture 8" descr="Hamburger, Value Stream Mapping, Lean ...">
            <a:extLst>
              <a:ext uri="{FF2B5EF4-FFF2-40B4-BE49-F238E27FC236}">
                <a16:creationId xmlns:a16="http://schemas.microsoft.com/office/drawing/2014/main" id="{A0AF2336-9170-841B-2E6E-8E45980FF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4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000" y="-531000"/>
            <a:ext cx="203835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D393-4269-A465-24DD-FA12087C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65627"/>
            <a:ext cx="10800000" cy="356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Translate business strategy into end-to-end value delivery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Show how cloud transformation enables business outcomes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Provide traceability from strategy to execution initiatives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CF3204B-E949-CC10-360B-13505F53D56D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Purpose of the Value Stream View</a:t>
            </a:r>
          </a:p>
        </p:txBody>
      </p:sp>
    </p:spTree>
    <p:extLst>
      <p:ext uri="{BB962C8B-B14F-4D97-AF65-F5344CB8AC3E}">
        <p14:creationId xmlns:p14="http://schemas.microsoft.com/office/powerpoint/2010/main" val="213279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ABB04-AA4D-63B1-F85F-5DF82C3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CF354-9F79-F599-C129-D05833C0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65627"/>
            <a:ext cx="10800000" cy="356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Value Stream Definition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An end-to-end sequence of activities that delivers value to the business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Starts with a business demand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Ends with a realized business outcome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D1DF871-16BD-DC1F-7368-A45FA657EED4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What Is a Value Stream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E95DD-9F89-81C8-2E52-51A77318D82D}"/>
              </a:ext>
            </a:extLst>
          </p:cNvPr>
          <p:cNvSpPr txBox="1"/>
          <p:nvPr/>
        </p:nvSpPr>
        <p:spPr>
          <a:xfrm>
            <a:off x="696000" y="5559192"/>
            <a:ext cx="11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Value streams span </a:t>
            </a:r>
            <a:r>
              <a:rPr lang="en-US" sz="2000" b="1" dirty="0"/>
              <a:t>across</a:t>
            </a:r>
            <a:r>
              <a:rPr lang="en-US" sz="1800" b="1" dirty="0"/>
              <a:t> business, IT, security, finance,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4225556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775C5-EFCB-7D2F-B47C-142B740D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3FEE-828E-F4C1-7CA1-45A9E4AC1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65627"/>
            <a:ext cx="10800000" cy="356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Identified Value Streams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Demand-to-Deployment</a:t>
            </a:r>
            <a:r>
              <a:rPr lang="en-US" sz="1800" dirty="0">
                <a:solidFill>
                  <a:schemeClr val="tx1"/>
                </a:solidFill>
              </a:rPr>
              <a:t> – Deliver change fast and safely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Operate-and-Optimize</a:t>
            </a:r>
            <a:r>
              <a:rPr lang="en-US" sz="1800" dirty="0">
                <a:solidFill>
                  <a:schemeClr val="tx1"/>
                </a:solidFill>
              </a:rPr>
              <a:t> – Run reliably and efficiently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Govern-and-Secure</a:t>
            </a:r>
            <a:r>
              <a:rPr lang="en-US" sz="1800" dirty="0">
                <a:solidFill>
                  <a:schemeClr val="tx1"/>
                </a:solidFill>
              </a:rPr>
              <a:t> – Control risk and compliance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Enable-and-Innovate</a:t>
            </a:r>
            <a:r>
              <a:rPr lang="en-US" sz="1800" dirty="0">
                <a:solidFill>
                  <a:schemeClr val="tx1"/>
                </a:solidFill>
              </a:rPr>
              <a:t> – Build future capability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C2C9834D-DB0F-0C12-E1B2-F284FFA55179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Primary Cloud Transformation Value Streams</a:t>
            </a:r>
          </a:p>
        </p:txBody>
      </p:sp>
    </p:spTree>
    <p:extLst>
      <p:ext uri="{BB962C8B-B14F-4D97-AF65-F5344CB8AC3E}">
        <p14:creationId xmlns:p14="http://schemas.microsoft.com/office/powerpoint/2010/main" val="178390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2907F-43B4-C5F8-23D1-D31B80A4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45137-231D-1136-51D3-CA29303E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074451"/>
            <a:ext cx="2520000" cy="387454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Enable rapid, reliable delivery of business and operational capabilities using cloud platforms.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CED6B30-CF4F-EB11-1510-E4D312C22C30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Value Stream 1 – Demand-to-Deployment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54A914-D205-7357-A30A-CB33CE533872}"/>
              </a:ext>
            </a:extLst>
          </p:cNvPr>
          <p:cNvSpPr txBox="1">
            <a:spLocks/>
          </p:cNvSpPr>
          <p:nvPr/>
        </p:nvSpPr>
        <p:spPr>
          <a:xfrm>
            <a:off x="5736000" y="2018687"/>
            <a:ext cx="2880000" cy="392491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Demand intake and prioritization</a:t>
            </a:r>
          </a:p>
          <a:p>
            <a:r>
              <a:rPr lang="en-US" dirty="0"/>
              <a:t>Solution design and planning</a:t>
            </a:r>
          </a:p>
          <a:p>
            <a:r>
              <a:rPr lang="en-US" dirty="0"/>
              <a:t>Build and configure cloud services</a:t>
            </a:r>
          </a:p>
          <a:p>
            <a:r>
              <a:rPr lang="en-US" dirty="0"/>
              <a:t>Test and validate</a:t>
            </a:r>
          </a:p>
          <a:p>
            <a:r>
              <a:rPr lang="en-US" dirty="0"/>
              <a:t>Deploy to production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DBA35B-75BD-2D72-D695-12A7492EDEE4}"/>
              </a:ext>
            </a:extLst>
          </p:cNvPr>
          <p:cNvSpPr txBox="1">
            <a:spLocks/>
          </p:cNvSpPr>
          <p:nvPr/>
        </p:nvSpPr>
        <p:spPr>
          <a:xfrm>
            <a:off x="8976000" y="2018686"/>
            <a:ext cx="2520000" cy="3874549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Faster time-to-market</a:t>
            </a:r>
          </a:p>
          <a:p>
            <a:r>
              <a:rPr lang="en-US" dirty="0"/>
              <a:t>Reduced dependency on infrastructure lead times</a:t>
            </a:r>
          </a:p>
          <a:p>
            <a:r>
              <a:rPr lang="en-US" dirty="0"/>
              <a:t>Improved responsiveness to business needs</a:t>
            </a: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EAE046-0F16-0823-0780-91645A61ECE4}"/>
              </a:ext>
            </a:extLst>
          </p:cNvPr>
          <p:cNvSpPr txBox="1">
            <a:spLocks/>
          </p:cNvSpPr>
          <p:nvPr/>
        </p:nvSpPr>
        <p:spPr>
          <a:xfrm>
            <a:off x="3576000" y="2074451"/>
            <a:ext cx="1800000" cy="3874549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New business requirement</a:t>
            </a:r>
          </a:p>
          <a:p>
            <a:r>
              <a:rPr lang="en-US" dirty="0"/>
              <a:t>Manufacturing or supply chain improvement request</a:t>
            </a:r>
          </a:p>
          <a:p>
            <a:r>
              <a:rPr lang="en-US" dirty="0"/>
              <a:t>Digital or analytics initiative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C0B44-F2DD-3B98-AA00-BBDB33D163F4}"/>
              </a:ext>
            </a:extLst>
          </p:cNvPr>
          <p:cNvSpPr txBox="1"/>
          <p:nvPr/>
        </p:nvSpPr>
        <p:spPr>
          <a:xfrm>
            <a:off x="696000" y="1448574"/>
            <a:ext cx="252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/>
              <a:t>Objective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C224C-19ED-3C5B-3A17-7D81E57208BC}"/>
              </a:ext>
            </a:extLst>
          </p:cNvPr>
          <p:cNvSpPr txBox="1"/>
          <p:nvPr/>
        </p:nvSpPr>
        <p:spPr>
          <a:xfrm>
            <a:off x="3576000" y="1478802"/>
            <a:ext cx="180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/>
              <a:t>Trigger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A1083-99B0-DD5B-40F6-634D9909ADAB}"/>
              </a:ext>
            </a:extLst>
          </p:cNvPr>
          <p:cNvSpPr txBox="1"/>
          <p:nvPr/>
        </p:nvSpPr>
        <p:spPr>
          <a:xfrm>
            <a:off x="5736000" y="1448574"/>
            <a:ext cx="288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/>
              <a:t>High-Level Stages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D41D01-C3D5-9A89-DABB-904FB8E2DDAF}"/>
              </a:ext>
            </a:extLst>
          </p:cNvPr>
          <p:cNvSpPr txBox="1"/>
          <p:nvPr/>
        </p:nvSpPr>
        <p:spPr>
          <a:xfrm>
            <a:off x="8976000" y="1448574"/>
            <a:ext cx="252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sz="1600" dirty="0"/>
              <a:t>Business Value Created</a:t>
            </a:r>
          </a:p>
        </p:txBody>
      </p:sp>
    </p:spTree>
    <p:extLst>
      <p:ext uri="{BB962C8B-B14F-4D97-AF65-F5344CB8AC3E}">
        <p14:creationId xmlns:p14="http://schemas.microsoft.com/office/powerpoint/2010/main" val="3470436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234A5-18D6-4800-F254-6B3B22A2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350B-9D07-8336-CEB9-38753B4DC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048183"/>
            <a:ext cx="2160000" cy="361538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Operate-and-Optimize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C9D230D-92B4-5962-C512-500D793E131C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Value Stream 2 – Operate-and-Optimize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09F28AA-5EAB-CAC6-1052-46505360352E}"/>
              </a:ext>
            </a:extLst>
          </p:cNvPr>
          <p:cNvSpPr txBox="1">
            <a:spLocks/>
          </p:cNvSpPr>
          <p:nvPr/>
        </p:nvSpPr>
        <p:spPr>
          <a:xfrm>
            <a:off x="5250858" y="2060451"/>
            <a:ext cx="3365142" cy="3615388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en-US" dirty="0"/>
          </a:p>
          <a:p>
            <a:r>
              <a:rPr lang="en-US" altLang="en-US" dirty="0"/>
              <a:t>Monitor availability and performance</a:t>
            </a:r>
          </a:p>
          <a:p>
            <a:r>
              <a:rPr lang="en-US" altLang="en-US" dirty="0"/>
              <a:t>Incident and problem management</a:t>
            </a:r>
          </a:p>
          <a:p>
            <a:r>
              <a:rPr lang="en-US" altLang="en-US" dirty="0"/>
              <a:t>Capacity and performance optimization</a:t>
            </a:r>
          </a:p>
          <a:p>
            <a:r>
              <a:rPr lang="en-US" altLang="en-US" dirty="0"/>
              <a:t>Cost monitoring and optimization</a:t>
            </a:r>
          </a:p>
          <a:p>
            <a:r>
              <a:rPr lang="en-US" altLang="en-US" dirty="0"/>
              <a:t>Continuous improvement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AD86D8-9610-26FD-35CB-F27268D2A043}"/>
              </a:ext>
            </a:extLst>
          </p:cNvPr>
          <p:cNvSpPr txBox="1">
            <a:spLocks/>
          </p:cNvSpPr>
          <p:nvPr/>
        </p:nvSpPr>
        <p:spPr>
          <a:xfrm>
            <a:off x="8733429" y="2048183"/>
            <a:ext cx="2683175" cy="3615388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en-US" dirty="0"/>
          </a:p>
          <a:p>
            <a:r>
              <a:rPr lang="en-US" altLang="en-US" dirty="0"/>
              <a:t>Higher system availability</a:t>
            </a:r>
          </a:p>
          <a:p>
            <a:r>
              <a:rPr lang="en-US" altLang="en-US" dirty="0"/>
              <a:t>Reduced operational disruptions</a:t>
            </a:r>
          </a:p>
          <a:p>
            <a:r>
              <a:rPr lang="en-US" altLang="en-US" dirty="0"/>
              <a:t>Improved cost efficiency and predictability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CD4A22-7B45-FFC4-7567-B4E0AF62974C}"/>
              </a:ext>
            </a:extLst>
          </p:cNvPr>
          <p:cNvSpPr txBox="1">
            <a:spLocks/>
          </p:cNvSpPr>
          <p:nvPr/>
        </p:nvSpPr>
        <p:spPr>
          <a:xfrm>
            <a:off x="2973429" y="2048183"/>
            <a:ext cx="2160000" cy="3615389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Deployed workloads entering steady-state 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EE33F-DFB0-7B47-3A5E-E73030B9D66E}"/>
              </a:ext>
            </a:extLst>
          </p:cNvPr>
          <p:cNvSpPr txBox="1"/>
          <p:nvPr/>
        </p:nvSpPr>
        <p:spPr>
          <a:xfrm>
            <a:off x="696000" y="1468582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E00E4-1658-D87E-1D31-4D1F1CC96E65}"/>
              </a:ext>
            </a:extLst>
          </p:cNvPr>
          <p:cNvSpPr txBox="1"/>
          <p:nvPr/>
        </p:nvSpPr>
        <p:spPr>
          <a:xfrm>
            <a:off x="2973429" y="1468581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Trigger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D7BFAC-EE3C-A2A1-D62A-0B1C9B40E3D5}"/>
              </a:ext>
            </a:extLst>
          </p:cNvPr>
          <p:cNvSpPr txBox="1"/>
          <p:nvPr/>
        </p:nvSpPr>
        <p:spPr>
          <a:xfrm>
            <a:off x="5250858" y="1468581"/>
            <a:ext cx="3365142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High-Level Stages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E2CDE-697B-BED6-8973-D9ACF249F9F7}"/>
              </a:ext>
            </a:extLst>
          </p:cNvPr>
          <p:cNvSpPr txBox="1"/>
          <p:nvPr/>
        </p:nvSpPr>
        <p:spPr>
          <a:xfrm>
            <a:off x="8733428" y="1490917"/>
            <a:ext cx="2683175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Business Value Created</a:t>
            </a:r>
          </a:p>
        </p:txBody>
      </p:sp>
    </p:spTree>
    <p:extLst>
      <p:ext uri="{BB962C8B-B14F-4D97-AF65-F5344CB8AC3E}">
        <p14:creationId xmlns:p14="http://schemas.microsoft.com/office/powerpoint/2010/main" val="1797856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A0163-D17E-8190-3534-7AB449AF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Chevron 4">
            <a:extLst>
              <a:ext uri="{FF2B5EF4-FFF2-40B4-BE49-F238E27FC236}">
                <a16:creationId xmlns:a16="http://schemas.microsoft.com/office/drawing/2014/main" id="{BE234337-B831-CA70-9EB3-13CD8B5B21F3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Value Stream 3 – Govern-and-Secure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7BA6F-0024-8160-76ED-20BF5757E926}"/>
              </a:ext>
            </a:extLst>
          </p:cNvPr>
          <p:cNvSpPr txBox="1"/>
          <p:nvPr/>
        </p:nvSpPr>
        <p:spPr>
          <a:xfrm>
            <a:off x="696000" y="1507843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96CC7-B35A-9EBB-AA23-8A1FBDCABD76}"/>
              </a:ext>
            </a:extLst>
          </p:cNvPr>
          <p:cNvSpPr txBox="1"/>
          <p:nvPr/>
        </p:nvSpPr>
        <p:spPr>
          <a:xfrm>
            <a:off x="3216000" y="1499784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Trigger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6503E-5AE3-5694-FAAE-30D2C2329BD3}"/>
              </a:ext>
            </a:extLst>
          </p:cNvPr>
          <p:cNvSpPr txBox="1"/>
          <p:nvPr/>
        </p:nvSpPr>
        <p:spPr>
          <a:xfrm>
            <a:off x="8601996" y="1507843"/>
            <a:ext cx="2923514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Business Value Created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A90CF8-DCBC-5F71-1D36-91696865A6BA}"/>
              </a:ext>
            </a:extLst>
          </p:cNvPr>
          <p:cNvSpPr txBox="1">
            <a:spLocks/>
          </p:cNvSpPr>
          <p:nvPr/>
        </p:nvSpPr>
        <p:spPr>
          <a:xfrm>
            <a:off x="710007" y="2083405"/>
            <a:ext cx="2160000" cy="350559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Provide consistent governance, security, and compliance across all cloud workloads.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824147-92DE-05AF-46C8-D3AFAC55AF06}"/>
              </a:ext>
            </a:extLst>
          </p:cNvPr>
          <p:cNvSpPr txBox="1">
            <a:spLocks/>
          </p:cNvSpPr>
          <p:nvPr/>
        </p:nvSpPr>
        <p:spPr>
          <a:xfrm>
            <a:off x="5640341" y="2083406"/>
            <a:ext cx="2725327" cy="3505593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en-US" dirty="0"/>
          </a:p>
          <a:p>
            <a:r>
              <a:rPr lang="en-US" altLang="en-US" dirty="0"/>
              <a:t>Define policies and standards</a:t>
            </a:r>
          </a:p>
          <a:p>
            <a:r>
              <a:rPr lang="en-US" altLang="en-US" dirty="0"/>
              <a:t>Enforce security and compliance controls</a:t>
            </a:r>
          </a:p>
          <a:p>
            <a:r>
              <a:rPr lang="en-US" altLang="en-US" dirty="0"/>
              <a:t>Monitor compliance posture</a:t>
            </a:r>
          </a:p>
          <a:p>
            <a:r>
              <a:rPr lang="en-US" altLang="en-US" dirty="0"/>
              <a:t>Manage risk and exceptions</a:t>
            </a:r>
          </a:p>
          <a:p>
            <a:r>
              <a:rPr lang="en-US" altLang="en-US" dirty="0"/>
              <a:t>Audit and reporting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3AB2151-BD59-7ECF-E50D-2A92139D6914}"/>
              </a:ext>
            </a:extLst>
          </p:cNvPr>
          <p:cNvSpPr txBox="1">
            <a:spLocks/>
          </p:cNvSpPr>
          <p:nvPr/>
        </p:nvSpPr>
        <p:spPr>
          <a:xfrm>
            <a:off x="8645513" y="2083406"/>
            <a:ext cx="2923514" cy="3505593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en-US" dirty="0"/>
          </a:p>
          <a:p>
            <a:r>
              <a:rPr lang="en-US" altLang="en-US" dirty="0"/>
              <a:t>Reduced risk and regulatory exposure</a:t>
            </a:r>
          </a:p>
          <a:p>
            <a:r>
              <a:rPr lang="en-US" altLang="en-US" dirty="0"/>
              <a:t>Consistent security posture across regions</a:t>
            </a:r>
          </a:p>
          <a:p>
            <a:r>
              <a:rPr lang="en-US" altLang="en-US" dirty="0"/>
              <a:t>Faster compliance validation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E5AEFD3-06CD-FA13-C3F9-C9656212CA67}"/>
              </a:ext>
            </a:extLst>
          </p:cNvPr>
          <p:cNvSpPr txBox="1">
            <a:spLocks/>
          </p:cNvSpPr>
          <p:nvPr/>
        </p:nvSpPr>
        <p:spPr>
          <a:xfrm>
            <a:off x="3216000" y="2083405"/>
            <a:ext cx="2160000" cy="3505592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New or modified workloads requiring governance, security, or compliance validation.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DFCDB-4C60-7A8E-2F16-1FA4C3733A07}"/>
              </a:ext>
            </a:extLst>
          </p:cNvPr>
          <p:cNvSpPr txBox="1"/>
          <p:nvPr/>
        </p:nvSpPr>
        <p:spPr>
          <a:xfrm>
            <a:off x="5626335" y="1513617"/>
            <a:ext cx="2725326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High-Level Stages</a:t>
            </a:r>
          </a:p>
        </p:txBody>
      </p:sp>
    </p:spTree>
    <p:extLst>
      <p:ext uri="{BB962C8B-B14F-4D97-AF65-F5344CB8AC3E}">
        <p14:creationId xmlns:p14="http://schemas.microsoft.com/office/powerpoint/2010/main" val="1175055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BEBE9-8A98-EC28-413F-5C06BE49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7E07-BEF5-C92B-C078-3D52FF599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989000"/>
            <a:ext cx="2160000" cy="359999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Build organizational capability and platforms that enable long-term digital innovation.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FD4FA7D8-DCD7-210E-1C01-189DA963B6AD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Value Stream 4 – Enable-and-Innovate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9BC10F3-FACC-25F1-D7A4-4EC61467CFB1}"/>
              </a:ext>
            </a:extLst>
          </p:cNvPr>
          <p:cNvSpPr txBox="1">
            <a:spLocks/>
          </p:cNvSpPr>
          <p:nvPr/>
        </p:nvSpPr>
        <p:spPr>
          <a:xfrm>
            <a:off x="5736000" y="1989000"/>
            <a:ext cx="288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en-US" dirty="0"/>
          </a:p>
          <a:p>
            <a:r>
              <a:rPr lang="en-US" altLang="en-US" dirty="0"/>
              <a:t>Platform and capability enablement</a:t>
            </a:r>
          </a:p>
          <a:p>
            <a:r>
              <a:rPr lang="en-US" altLang="en-US" dirty="0"/>
              <a:t>Skill and operating model evolution</a:t>
            </a:r>
          </a:p>
          <a:p>
            <a:r>
              <a:rPr lang="en-US" altLang="en-US" dirty="0"/>
              <a:t>Tooling and automation enablement</a:t>
            </a:r>
          </a:p>
          <a:p>
            <a:r>
              <a:rPr lang="en-US" altLang="en-US" dirty="0"/>
              <a:t>Innovation pilots and experimentation</a:t>
            </a:r>
          </a:p>
          <a:p>
            <a:r>
              <a:rPr lang="en-US" altLang="en-US" dirty="0"/>
              <a:t>Scale successful initiatives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4D7BF8-B8DB-DAFD-5452-6D3860454179}"/>
              </a:ext>
            </a:extLst>
          </p:cNvPr>
          <p:cNvSpPr txBox="1">
            <a:spLocks/>
          </p:cNvSpPr>
          <p:nvPr/>
        </p:nvSpPr>
        <p:spPr>
          <a:xfrm>
            <a:off x="8976000" y="1989000"/>
            <a:ext cx="252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Sustainable innovation capability</a:t>
            </a:r>
          </a:p>
          <a:p>
            <a:r>
              <a:rPr lang="en-US" altLang="en-US" dirty="0"/>
              <a:t>Reduced dependency on manual processes</a:t>
            </a:r>
          </a:p>
          <a:p>
            <a:r>
              <a:rPr lang="en-US" altLang="en-US" dirty="0"/>
              <a:t>Faster adoption of new digital capabilities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7A7290-6208-8AA2-BCB4-FB7D2B6927E3}"/>
              </a:ext>
            </a:extLst>
          </p:cNvPr>
          <p:cNvSpPr txBox="1">
            <a:spLocks/>
          </p:cNvSpPr>
          <p:nvPr/>
        </p:nvSpPr>
        <p:spPr>
          <a:xfrm>
            <a:off x="3216000" y="1989000"/>
            <a:ext cx="216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Strategic digital initiatives</a:t>
            </a:r>
          </a:p>
          <a:p>
            <a:r>
              <a:rPr lang="en-US" dirty="0"/>
              <a:t>New analytics, automation, or modernization efforts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3F199-A7FE-69F5-7CB3-D53C0CC6EEE0}"/>
              </a:ext>
            </a:extLst>
          </p:cNvPr>
          <p:cNvSpPr txBox="1"/>
          <p:nvPr/>
        </p:nvSpPr>
        <p:spPr>
          <a:xfrm>
            <a:off x="696000" y="1343394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195A6-DFCE-42A9-824C-A7F06734A543}"/>
              </a:ext>
            </a:extLst>
          </p:cNvPr>
          <p:cNvSpPr txBox="1"/>
          <p:nvPr/>
        </p:nvSpPr>
        <p:spPr>
          <a:xfrm>
            <a:off x="3216000" y="1322693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Trigger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E9F26F-A47E-3482-34D5-89DE44D9E339}"/>
              </a:ext>
            </a:extLst>
          </p:cNvPr>
          <p:cNvSpPr txBox="1"/>
          <p:nvPr/>
        </p:nvSpPr>
        <p:spPr>
          <a:xfrm>
            <a:off x="5736000" y="1310329"/>
            <a:ext cx="288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High-Level Stages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06742-780C-A07A-C512-D48C9547708E}"/>
              </a:ext>
            </a:extLst>
          </p:cNvPr>
          <p:cNvSpPr txBox="1"/>
          <p:nvPr/>
        </p:nvSpPr>
        <p:spPr>
          <a:xfrm>
            <a:off x="8976000" y="1322693"/>
            <a:ext cx="252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Business </a:t>
            </a:r>
            <a:r>
              <a:rPr lang="en-US"/>
              <a:t>Value Created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2DBC8B8-5CB3-6DB4-E9A7-48F3C9EC5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75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7E08-2E0A-A784-D111-C7F91EA1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E79F2615-5297-3997-8EF8-920CFD2770F1}"/>
              </a:ext>
            </a:extLst>
          </p:cNvPr>
          <p:cNvSpPr/>
          <p:nvPr/>
        </p:nvSpPr>
        <p:spPr>
          <a:xfrm>
            <a:off x="606490" y="388620"/>
            <a:ext cx="1096347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Target Business Outcomes</a:t>
            </a:r>
            <a:endParaRPr lang="en-IN" sz="3200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8633823-0D04-1584-6143-AB8A2A540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364951"/>
              </p:ext>
            </p:extLst>
          </p:nvPr>
        </p:nvGraphicFramePr>
        <p:xfrm>
          <a:off x="696000" y="1269000"/>
          <a:ext cx="10440000" cy="3960001"/>
        </p:xfrm>
        <a:graphic>
          <a:graphicData uri="http://schemas.openxmlformats.org/drawingml/2006/table">
            <a:tbl>
              <a:tblPr/>
              <a:tblGrid>
                <a:gridCol w="3043306">
                  <a:extLst>
                    <a:ext uri="{9D8B030D-6E8A-4147-A177-3AD203B41FA5}">
                      <a16:colId xmlns:a16="http://schemas.microsoft.com/office/drawing/2014/main" val="3292743293"/>
                    </a:ext>
                  </a:extLst>
                </a:gridCol>
                <a:gridCol w="7396694">
                  <a:extLst>
                    <a:ext uri="{9D8B030D-6E8A-4147-A177-3AD203B41FA5}">
                      <a16:colId xmlns:a16="http://schemas.microsoft.com/office/drawing/2014/main" val="154747953"/>
                    </a:ext>
                  </a:extLst>
                </a:gridCol>
              </a:tblGrid>
              <a:tr h="6587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Value 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Primary Business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49729"/>
                  </a:ext>
                </a:extLst>
              </a:tr>
              <a:tr h="6587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>
                          <a:solidFill>
                            <a:schemeClr val="tx1"/>
                          </a:solidFill>
                        </a:rPr>
                        <a:t>Demand-to-Deployment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Faster delivery of business capabilities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350416"/>
                  </a:ext>
                </a:extLst>
              </a:tr>
              <a:tr h="666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>
                          <a:solidFill>
                            <a:schemeClr val="tx1"/>
                          </a:solidFill>
                        </a:rPr>
                        <a:t>Operate-and-Optimize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Improved reliability and cost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64741"/>
                  </a:ext>
                </a:extLst>
              </a:tr>
              <a:tr h="6587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Govern-and-Secure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Reduced risk and consistent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63476"/>
                  </a:ext>
                </a:extLst>
              </a:tr>
              <a:tr h="6587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>
                          <a:solidFill>
                            <a:schemeClr val="tx1"/>
                          </a:solidFill>
                        </a:rPr>
                        <a:t>Enable-and-Innovate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Long-term digital and operational 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6034"/>
                  </a:ext>
                </a:extLst>
              </a:tr>
              <a:tr h="6587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Value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Primary Business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483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E4DC82-8BFF-C39C-77BD-03C631971B40}"/>
              </a:ext>
            </a:extLst>
          </p:cNvPr>
          <p:cNvSpPr txBox="1"/>
          <p:nvPr/>
        </p:nvSpPr>
        <p:spPr>
          <a:xfrm>
            <a:off x="696000" y="5589000"/>
            <a:ext cx="82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This ensures </a:t>
            </a:r>
            <a:r>
              <a:rPr lang="en-US" sz="2000" b="1" dirty="0"/>
              <a:t>direct traceability</a:t>
            </a:r>
            <a:r>
              <a:rPr lang="en-US" sz="2000" dirty="0"/>
              <a:t> from value streams to strategy.</a:t>
            </a:r>
          </a:p>
        </p:txBody>
      </p:sp>
    </p:spTree>
    <p:extLst>
      <p:ext uri="{BB962C8B-B14F-4D97-AF65-F5344CB8AC3E}">
        <p14:creationId xmlns:p14="http://schemas.microsoft.com/office/powerpoint/2010/main" val="27676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B57CD-D92A-6FAC-E376-FBEDB71D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DF4D-DDD6-731F-AD45-C7894489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65627"/>
            <a:ext cx="10800000" cy="392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Common Pain Points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Long provisioning and deployment cycles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Reactive operations and manual monitoring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Inconsistent governance across regions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Limited cost visibility and accountability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Skills and tooling gaps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FB77880-FE92-06A6-4393-195B9C64856E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Current-State Challenges Across Value Streams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A909B-EF4C-8815-E015-37770817BBB7}"/>
              </a:ext>
            </a:extLst>
          </p:cNvPr>
          <p:cNvSpPr txBox="1"/>
          <p:nvPr/>
        </p:nvSpPr>
        <p:spPr>
          <a:xfrm>
            <a:off x="696000" y="5589000"/>
            <a:ext cx="11160000" cy="57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b="1" dirty="0"/>
              <a:t>These challenges reduce end-to-end value delivery effectiveness.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80054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566AB-94D2-7A35-8C54-D691977A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0172-4DF0-9F4C-6B3E-8D11D4D8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65627"/>
            <a:ext cx="10440000" cy="356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Target-State Principles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Automated and repeatable delivery pipelines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Proactive monitoring and optimization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Policy-driven governance and security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Built-in cost visibility and ownership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Platform-enabled innovation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1E560AD-46F5-2E19-A2AC-45A0C6375993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Target-State Value Stream Characteristics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26C9D-4E4E-2003-EB68-79934EBF9C79}"/>
              </a:ext>
            </a:extLst>
          </p:cNvPr>
          <p:cNvSpPr txBox="1"/>
          <p:nvPr/>
        </p:nvSpPr>
        <p:spPr>
          <a:xfrm>
            <a:off x="696000" y="5589000"/>
            <a:ext cx="10800000" cy="5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Cloud transformation is designed to remove friction across all value streams.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16687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DD418-A92C-8CD6-799E-7A65CCD8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997F-B822-DA5D-A657-272D6748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65627"/>
            <a:ext cx="10800000" cy="356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This Value Stream View Informs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lvl="1"/>
            <a:r>
              <a:rPr lang="en-US" sz="1800" b="1" dirty="0">
                <a:solidFill>
                  <a:schemeClr val="tx1"/>
                </a:solidFill>
              </a:rPr>
              <a:t>Business Capability Map</a:t>
            </a:r>
          </a:p>
          <a:p>
            <a:pPr lvl="2"/>
            <a:r>
              <a:rPr lang="en-US" sz="1800" dirty="0">
                <a:solidFill>
                  <a:schemeClr val="tx1"/>
                </a:solidFill>
              </a:rPr>
              <a:t>What capabilities must exist to support each value stream</a:t>
            </a:r>
          </a:p>
          <a:p>
            <a:pPr lvl="1"/>
            <a:r>
              <a:rPr lang="en-US" sz="1800" b="1" dirty="0">
                <a:solidFill>
                  <a:schemeClr val="tx1"/>
                </a:solidFill>
              </a:rPr>
              <a:t>Operating Model</a:t>
            </a:r>
          </a:p>
          <a:p>
            <a:pPr lvl="2"/>
            <a:r>
              <a:rPr lang="en-US" sz="1800" dirty="0">
                <a:solidFill>
                  <a:schemeClr val="tx1"/>
                </a:solidFill>
              </a:rPr>
              <a:t>How teams, roles, and decision rights align to value streams</a:t>
            </a:r>
          </a:p>
          <a:p>
            <a:pPr lvl="1"/>
            <a:r>
              <a:rPr lang="en-US" sz="1800" b="1" dirty="0">
                <a:solidFill>
                  <a:schemeClr val="tx1"/>
                </a:solidFill>
              </a:rPr>
              <a:t>Transformation Roadmap</a:t>
            </a:r>
          </a:p>
          <a:p>
            <a:pPr lvl="2"/>
            <a:r>
              <a:rPr lang="en-US" sz="1800" dirty="0">
                <a:solidFill>
                  <a:schemeClr val="tx1"/>
                </a:solidFill>
              </a:rPr>
              <a:t>Which value stream improvements are delivered first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28E0BD3-0A29-478C-B740-2010BD598771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Relationship to Other Architecture Views</a:t>
            </a:r>
          </a:p>
        </p:txBody>
      </p:sp>
    </p:spTree>
    <p:extLst>
      <p:ext uri="{BB962C8B-B14F-4D97-AF65-F5344CB8AC3E}">
        <p14:creationId xmlns:p14="http://schemas.microsoft.com/office/powerpoint/2010/main" val="255002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0FF988-49FB-A330-2F42-E9F66371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7683-3AC5-F969-F9A3-1D5732B31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29001"/>
            <a:ext cx="10800000" cy="360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Cloud transformation at Northstar Digital Group is not a single initiative.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It is a set of integrated value streams that collectively enable agility, resilience, governance, and innovation.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2B69CEF-652C-F012-157A-E5328F2E9C1D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Key Takeaway</a:t>
            </a:r>
          </a:p>
        </p:txBody>
      </p:sp>
    </p:spTree>
    <p:extLst>
      <p:ext uri="{BB962C8B-B14F-4D97-AF65-F5344CB8AC3E}">
        <p14:creationId xmlns:p14="http://schemas.microsoft.com/office/powerpoint/2010/main" val="410576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3113</TotalTime>
  <Words>590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Value Stream View 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69</cp:revision>
  <dcterms:created xsi:type="dcterms:W3CDTF">2025-12-13T13:21:05Z</dcterms:created>
  <dcterms:modified xsi:type="dcterms:W3CDTF">2025-12-23T01:12:28Z</dcterms:modified>
</cp:coreProperties>
</file>