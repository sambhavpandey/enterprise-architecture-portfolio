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1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>
      <p:cViewPr varScale="1">
        <p:scale>
          <a:sx n="81" d="100"/>
          <a:sy n="81" d="100"/>
        </p:scale>
        <p:origin x="715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60000" cy="3600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6B2DA-6A1F-ABED-E3A8-52586CD3F8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969E8D-4E38-DC59-ACF4-A8012CA392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BB27D6-E10F-E02C-2E52-7250C8728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FCE1A-A6A6-5B5B-AC7B-B102B0C50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37EFC-0FFD-D271-68BE-E11541644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5373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95486-8833-D29A-C376-F0C724020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54B1F-86FF-D4D7-0C24-02DDE4DB89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81CCBF-97B1-2B0D-C5B5-1B7AACCB9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A5BB66-1533-BB45-EBE7-D4D59AFE5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7F07F-5244-D7EA-B857-A5DF59713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5695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B2DC0-CC40-A08E-5DDB-85FBCBC82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8D9F73-6EBF-D5BC-439E-006C7087FE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ADD9C3-872E-37A6-6966-185EBF213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EBE52F-FAA2-223A-2FCE-40C47E2C9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11D50-922D-1DE8-917C-A3931180D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0270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E48BB-EB8F-56BB-A8DB-902650DCB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CE445-808E-D2D8-99A0-7D08D4F00E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1E9938-FCC9-E000-DB18-52A44F27F7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F38832-6ABA-5C61-79BA-1CD251B28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89B765-49E7-9951-90C2-695B36CD6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C10948-1C7E-11EB-0C82-A61723833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5687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42A28-F4F4-7B70-865A-DDAFFD107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DC4322-68AA-8DA9-074D-EF87FFA6F7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DF39CF-6304-4DF5-3245-14010E37C2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DAC0AC-BB28-CA9B-D780-F23AEFECFB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D08ED6-7E1A-FEB4-450F-F20EABAF6B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0D8B05-2720-B045-CA30-84BDE4DA8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BA8055-6E29-14C2-2386-99AA91796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397C69-C3DD-2D22-98DA-3D95E97E6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4969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C54AB-C445-CE73-BB9F-E82B08EDA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841F5E-2A58-2994-6EB0-9B4C0A2A4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9D7A3E-5EB1-F79D-A8B7-B5AA272B6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CF46FC-E099-7931-76B2-E60C9A2E2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8652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F01050-AC9A-F640-F228-7CF292F6F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1112B4-BCB0-DE15-DD29-881EFA675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ECDC9D-4ADC-F3C6-8DBD-0C5EFB50B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2021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5B8A8-F7CD-80C2-94AA-53CD8F616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07782-06E6-0209-2F2D-6BB0933815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E535CA-C15A-A263-2673-6E21A34420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0FD550-0B99-7F90-11C9-12E7D608C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B826DD-3181-65CF-FC01-2EF77FDFE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A5CC22-76B0-132A-3B1C-21BAC2639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6708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12156-046E-BA01-134F-B85028D01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1FDAAE-1C70-45F0-D2B0-CB02ABB9F3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B241F3-FF67-BF54-65AB-0D71F43BBA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37BBA5-DE3E-8A9A-1404-34DD3B523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C4C49F-543B-F6F2-3326-C5850D287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DA0968-C07F-344B-A540-65F4DD038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8439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4BAE0-5302-73F0-9608-5F20D3455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E05C13-61D4-8300-49E0-20088EB9D4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406A95-952F-23C6-7455-29A6015E3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E1AF31-DFD7-FF37-D543-D6B5EB0C6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DE840-9D3C-FCAB-AFFE-05E1FF3AE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9773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2BF280-65A7-6753-C51C-1E2C1351A4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E14C68-090B-AEE0-D622-C9D290BC7B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FC9A35-C26F-7F72-CDAC-C5235A0BA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E1653-FD56-392C-3E9F-32D3915D9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D84F79-A0A4-604A-F7B7-84F8145F3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9351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0B050"/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25333E-6900-7841-53D6-37186BC83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B2D552-1BBE-AE44-521F-5C2B2A95CE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090D7A-9A26-0C8B-A978-04A81B3575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77B2F6-54B1-42B0-9CB6-CAD0512A84B5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4654AC-AA1B-2345-F70F-15BA7C5706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71790-E29D-5C10-A185-BFC1AE17B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  <p:pic>
        <p:nvPicPr>
          <p:cNvPr id="14" name="Picture 13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F1CD0A77-8F98-0C5F-B8E1-85FB3569C13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duotone>
              <a:prstClr val="black"/>
              <a:schemeClr val="accent2">
                <a:lumMod val="75000"/>
                <a:tint val="45000"/>
                <a:satMod val="400000"/>
              </a:schemeClr>
            </a:duotone>
            <a:alphaModFix amt="54000"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colorTemperature colorTemp="6300"/>
                    </a14:imgEffect>
                    <a14:imgEffect>
                      <a14:saturation sat="9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60" t="10101" r="7967" b="6802"/>
          <a:stretch>
            <a:fillRect/>
          </a:stretch>
        </p:blipFill>
        <p:spPr>
          <a:xfrm rot="2054607">
            <a:off x="9089867" y="5595424"/>
            <a:ext cx="2310816" cy="175990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26576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accent2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0F7C6281-546D-97BA-2D5C-54F7958656A1}"/>
              </a:ext>
            </a:extLst>
          </p:cNvPr>
          <p:cNvSpPr/>
          <p:nvPr/>
        </p:nvSpPr>
        <p:spPr>
          <a:xfrm>
            <a:off x="3216000" y="189000"/>
            <a:ext cx="6256020" cy="5974080"/>
          </a:xfrm>
          <a:prstGeom prst="flowChartConnector">
            <a:avLst/>
          </a:prstGeom>
          <a:gradFill flip="none" rotWithShape="1">
            <a:gsLst>
              <a:gs pos="100000">
                <a:schemeClr val="accent2">
                  <a:lumMod val="20000"/>
                  <a:lumOff val="80000"/>
                </a:schemeClr>
              </a:gs>
              <a:gs pos="0">
                <a:schemeClr val="accent2">
                  <a:lumMod val="20000"/>
                  <a:lumOff val="80000"/>
                </a:schemeClr>
              </a:gs>
              <a:gs pos="500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95000">
                <a:schemeClr val="accent1">
                  <a:shade val="100000"/>
                  <a:satMod val="115000"/>
                </a:schemeClr>
              </a:gs>
            </a:gsLst>
            <a:lin ang="5400000" scaled="0"/>
            <a:tileRect/>
          </a:gradFill>
          <a:effectLst>
            <a:outerShdw blurRad="50800" dist="38100" algn="l" rotWithShape="0">
              <a:prstClr val="black">
                <a:alpha val="40000"/>
              </a:prstClr>
            </a:outerShdw>
            <a:reflection blurRad="6350" stA="50000" endA="295" endPos="92000" dist="1016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4A33D1-3B2C-FAB2-F576-0287340A16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14700" y="1129004"/>
            <a:ext cx="6021300" cy="3267736"/>
          </a:xfr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3200" b="1" dirty="0">
                <a:solidFill>
                  <a:schemeClr val="bg1"/>
                </a:solidFill>
              </a:rPr>
              <a:t>End-to-End Cloud Transformation Architecture Summary</a:t>
            </a:r>
            <a:br>
              <a:rPr lang="en-IN" sz="4800" dirty="0">
                <a:solidFill>
                  <a:schemeClr val="bg1"/>
                </a:solidFill>
              </a:rPr>
            </a:b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From Business Strategy to Executable Outcomes</a:t>
            </a:r>
            <a:br>
              <a:rPr lang="en-IN" sz="4800" dirty="0">
                <a:solidFill>
                  <a:schemeClr val="bg1"/>
                </a:solidFill>
              </a:rPr>
            </a:br>
            <a:endParaRPr lang="en-IN" sz="4800" dirty="0">
              <a:solidFill>
                <a:schemeClr val="bg1"/>
              </a:solidFill>
            </a:endParaRPr>
          </a:p>
        </p:txBody>
      </p:sp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B9BB8CB7-1FAC-ECE1-C3C2-F5D463821095}"/>
              </a:ext>
            </a:extLst>
          </p:cNvPr>
          <p:cNvCxnSpPr>
            <a:cxnSpLocks/>
          </p:cNvCxnSpPr>
          <p:nvPr/>
        </p:nvCxnSpPr>
        <p:spPr>
          <a:xfrm>
            <a:off x="1615440" y="640080"/>
            <a:ext cx="914400" cy="914400"/>
          </a:xfrm>
          <a:prstGeom prst="curvedConnector3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426A66B6-2B87-7C01-5A92-985D13022792}"/>
              </a:ext>
            </a:extLst>
          </p:cNvPr>
          <p:cNvCxnSpPr>
            <a:cxnSpLocks/>
          </p:cNvCxnSpPr>
          <p:nvPr/>
        </p:nvCxnSpPr>
        <p:spPr>
          <a:xfrm>
            <a:off x="1013460" y="944880"/>
            <a:ext cx="914400" cy="914400"/>
          </a:xfrm>
          <a:prstGeom prst="curvedConnector3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82E8CD61-D9EA-3353-2BAA-5756E0FF6029}"/>
              </a:ext>
            </a:extLst>
          </p:cNvPr>
          <p:cNvCxnSpPr>
            <a:cxnSpLocks/>
          </p:cNvCxnSpPr>
          <p:nvPr/>
        </p:nvCxnSpPr>
        <p:spPr>
          <a:xfrm>
            <a:off x="556260" y="1249680"/>
            <a:ext cx="914400" cy="914400"/>
          </a:xfrm>
          <a:prstGeom prst="curvedConnector3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33036F7E-FE50-67C1-146A-E79F40AF220C}"/>
              </a:ext>
            </a:extLst>
          </p:cNvPr>
          <p:cNvCxnSpPr>
            <a:cxnSpLocks/>
          </p:cNvCxnSpPr>
          <p:nvPr/>
        </p:nvCxnSpPr>
        <p:spPr>
          <a:xfrm>
            <a:off x="10477500" y="4236720"/>
            <a:ext cx="914400" cy="914400"/>
          </a:xfrm>
          <a:prstGeom prst="curvedConnector3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45B97D4F-1F4B-C1A8-1553-4202AE75C63D}"/>
              </a:ext>
            </a:extLst>
          </p:cNvPr>
          <p:cNvCxnSpPr>
            <a:cxnSpLocks/>
          </p:cNvCxnSpPr>
          <p:nvPr/>
        </p:nvCxnSpPr>
        <p:spPr>
          <a:xfrm>
            <a:off x="9875520" y="4541520"/>
            <a:ext cx="914400" cy="914400"/>
          </a:xfrm>
          <a:prstGeom prst="curvedConnector3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9C95EB2F-0858-99F9-F412-3A249DAD45E1}"/>
              </a:ext>
            </a:extLst>
          </p:cNvPr>
          <p:cNvCxnSpPr>
            <a:cxnSpLocks/>
          </p:cNvCxnSpPr>
          <p:nvPr/>
        </p:nvCxnSpPr>
        <p:spPr>
          <a:xfrm>
            <a:off x="9418320" y="4846320"/>
            <a:ext cx="914400" cy="914400"/>
          </a:xfrm>
          <a:prstGeom prst="curvedConnector3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Curved 19">
            <a:extLst>
              <a:ext uri="{FF2B5EF4-FFF2-40B4-BE49-F238E27FC236}">
                <a16:creationId xmlns:a16="http://schemas.microsoft.com/office/drawing/2014/main" id="{9B1806E6-45DB-39EE-42D7-523A6FEB1BEF}"/>
              </a:ext>
            </a:extLst>
          </p:cNvPr>
          <p:cNvCxnSpPr>
            <a:cxnSpLocks/>
          </p:cNvCxnSpPr>
          <p:nvPr/>
        </p:nvCxnSpPr>
        <p:spPr>
          <a:xfrm>
            <a:off x="3067050" y="3665220"/>
            <a:ext cx="914400" cy="914400"/>
          </a:xfrm>
          <a:prstGeom prst="curvedConnector3">
            <a:avLst>
              <a:gd name="adj1" fmla="val -75001"/>
            </a:avLst>
          </a:prstGeom>
          <a:ln w="228600">
            <a:solidFill>
              <a:schemeClr val="accent2">
                <a:lumMod val="75000"/>
              </a:schemeClr>
            </a:solidFill>
            <a:tailEnd type="triangle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50" name="Picture 2">
            <a:extLst>
              <a:ext uri="{FF2B5EF4-FFF2-40B4-BE49-F238E27FC236}">
                <a16:creationId xmlns:a16="http://schemas.microsoft.com/office/drawing/2014/main" id="{5DE5B677-5C86-4C22-0771-91FA85E713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2">
                <a:lumMod val="7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0740" y="117919"/>
            <a:ext cx="1661160" cy="1666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AF82C92-844C-5AEA-478A-3EA6BEF7DC8C}"/>
              </a:ext>
            </a:extLst>
          </p:cNvPr>
          <p:cNvSpPr txBox="1"/>
          <p:nvPr/>
        </p:nvSpPr>
        <p:spPr>
          <a:xfrm>
            <a:off x="0" y="6334780"/>
            <a:ext cx="120559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Disclaimer: Fictional Enterprise Case Study for Portfolio Demonstration</a:t>
            </a:r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6493476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accent2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BAE8FF-6368-223A-594A-F2984F397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7372D-3AA3-FDE4-AFAB-3519E5752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000" y="1796975"/>
            <a:ext cx="3984784" cy="1746602"/>
          </a:xfr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 b="1" i="1" dirty="0">
                <a:solidFill>
                  <a:schemeClr val="tx1"/>
                </a:solidFill>
              </a:rPr>
              <a:t>(Why we transform)</a:t>
            </a:r>
            <a:endParaRPr lang="en-US" sz="1800" b="1" dirty="0">
              <a:solidFill>
                <a:schemeClr val="tx1"/>
              </a:solidFill>
            </a:endParaRPr>
          </a:p>
          <a:p>
            <a:pPr lvl="1"/>
            <a:r>
              <a:rPr lang="en-US" sz="1600" dirty="0">
                <a:solidFill>
                  <a:schemeClr val="tx1"/>
                </a:solidFill>
              </a:rPr>
              <a:t>Improve speed, resilience, and cost efficiency</a:t>
            </a:r>
          </a:p>
          <a:p>
            <a:pPr lvl="1"/>
            <a:r>
              <a:rPr lang="en-US" sz="1600" dirty="0">
                <a:solidFill>
                  <a:schemeClr val="tx1"/>
                </a:solidFill>
              </a:rPr>
              <a:t>Enable scalable digital growth</a:t>
            </a:r>
          </a:p>
          <a:p>
            <a:pPr lvl="1"/>
            <a:r>
              <a:rPr lang="en-US" sz="1600" dirty="0">
                <a:solidFill>
                  <a:schemeClr val="tx1"/>
                </a:solidFill>
              </a:rPr>
              <a:t>Strengthen governance, security, and compliance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870303DF-4D7C-6BF1-5B4F-682419A8B1D4}"/>
              </a:ext>
            </a:extLst>
          </p:cNvPr>
          <p:cNvSpPr/>
          <p:nvPr/>
        </p:nvSpPr>
        <p:spPr>
          <a:xfrm>
            <a:off x="336000" y="182681"/>
            <a:ext cx="11520000" cy="701040"/>
          </a:xfrm>
          <a:prstGeom prst="chevron">
            <a:avLst/>
          </a:prstGeom>
          <a:gradFill>
            <a:gsLst>
              <a:gs pos="100000">
                <a:schemeClr val="accent4">
                  <a:lumMod val="20000"/>
                  <a:lumOff val="80000"/>
                </a:schemeClr>
              </a:gs>
              <a:gs pos="91000">
                <a:schemeClr val="accent4">
                  <a:lumMod val="50000"/>
                </a:schemeClr>
              </a:gs>
              <a:gs pos="18000">
                <a:schemeClr val="accent4">
                  <a:lumMod val="50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End-to-End Cloud Transformation Architecture Summary</a:t>
            </a:r>
            <a:endParaRPr lang="en-IN" sz="28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DE0310-ADDC-51E6-FD51-EC35A351C02C}"/>
              </a:ext>
            </a:extLst>
          </p:cNvPr>
          <p:cNvSpPr txBox="1"/>
          <p:nvPr/>
        </p:nvSpPr>
        <p:spPr>
          <a:xfrm>
            <a:off x="336000" y="1212538"/>
            <a:ext cx="3960000" cy="47928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2000" b="1"/>
            </a:lvl1pPr>
          </a:lstStyle>
          <a:p>
            <a:r>
              <a:rPr lang="en-IN" sz="1600" dirty="0"/>
              <a:t>Business Strategy</a:t>
            </a:r>
            <a:endParaRPr lang="en-US" sz="1600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67D94F7-1B22-16D1-3DB1-E2398874937F}"/>
              </a:ext>
            </a:extLst>
          </p:cNvPr>
          <p:cNvSpPr txBox="1">
            <a:spLocks/>
          </p:cNvSpPr>
          <p:nvPr/>
        </p:nvSpPr>
        <p:spPr>
          <a:xfrm>
            <a:off x="4505804" y="1802294"/>
            <a:ext cx="3600000" cy="1746602"/>
          </a:xfrm>
          <a:prstGeom prst="rect">
            <a:avLst/>
          </a:prstGeo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i="1" dirty="0">
                <a:solidFill>
                  <a:schemeClr val="tx1"/>
                </a:solidFill>
              </a:rPr>
              <a:t>(How value flows)</a:t>
            </a:r>
            <a:endParaRPr lang="en-US" sz="1800" b="1" dirty="0">
              <a:solidFill>
                <a:schemeClr val="tx1"/>
              </a:solidFill>
            </a:endParaRPr>
          </a:p>
          <a:p>
            <a:pPr lvl="1"/>
            <a:r>
              <a:rPr lang="en-US" sz="1600" dirty="0">
                <a:solidFill>
                  <a:schemeClr val="tx1"/>
                </a:solidFill>
              </a:rPr>
              <a:t>Demand-to-Deployment</a:t>
            </a:r>
          </a:p>
          <a:p>
            <a:pPr lvl="1"/>
            <a:r>
              <a:rPr lang="en-US" sz="1600" dirty="0">
                <a:solidFill>
                  <a:schemeClr val="tx1"/>
                </a:solidFill>
              </a:rPr>
              <a:t>Operate-and-Optimize</a:t>
            </a:r>
          </a:p>
          <a:p>
            <a:pPr lvl="1"/>
            <a:r>
              <a:rPr lang="en-US" sz="1600" dirty="0">
                <a:solidFill>
                  <a:schemeClr val="tx1"/>
                </a:solidFill>
              </a:rPr>
              <a:t>Govern-and-Secure</a:t>
            </a:r>
          </a:p>
          <a:p>
            <a:pPr lvl="1"/>
            <a:r>
              <a:rPr lang="en-US" sz="1600" dirty="0">
                <a:solidFill>
                  <a:schemeClr val="tx1"/>
                </a:solidFill>
              </a:rPr>
              <a:t>Enable-and-Innovate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98B350-6AE8-CD8D-1BDE-71C8332AB6F1}"/>
              </a:ext>
            </a:extLst>
          </p:cNvPr>
          <p:cNvSpPr txBox="1"/>
          <p:nvPr/>
        </p:nvSpPr>
        <p:spPr>
          <a:xfrm>
            <a:off x="4493412" y="1202173"/>
            <a:ext cx="3600000" cy="47928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2000" b="1"/>
            </a:lvl1pPr>
          </a:lstStyle>
          <a:p>
            <a:r>
              <a:rPr lang="en-IN" sz="1600" dirty="0"/>
              <a:t>Value Streams</a:t>
            </a:r>
            <a:endParaRPr lang="en-US" sz="16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2AEAFED-A54D-3E81-F3BA-8956A1BC4895}"/>
              </a:ext>
            </a:extLst>
          </p:cNvPr>
          <p:cNvSpPr txBox="1">
            <a:spLocks/>
          </p:cNvSpPr>
          <p:nvPr/>
        </p:nvSpPr>
        <p:spPr>
          <a:xfrm>
            <a:off x="8268392" y="1795890"/>
            <a:ext cx="3600000" cy="1746602"/>
          </a:xfrm>
          <a:prstGeom prst="rect">
            <a:avLst/>
          </a:prstGeo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i="1" dirty="0">
                <a:solidFill>
                  <a:schemeClr val="tx1"/>
                </a:solidFill>
              </a:rPr>
              <a:t>(What must exist)</a:t>
            </a:r>
            <a:endParaRPr lang="en-US" sz="1800" b="1" dirty="0">
              <a:solidFill>
                <a:schemeClr val="tx1"/>
              </a:solidFill>
            </a:endParaRPr>
          </a:p>
          <a:p>
            <a:pPr lvl="1"/>
            <a:r>
              <a:rPr lang="en-US" sz="1600" dirty="0">
                <a:solidFill>
                  <a:schemeClr val="tx1"/>
                </a:solidFill>
              </a:rPr>
              <a:t>Cloud Strategy and Governance</a:t>
            </a:r>
          </a:p>
          <a:p>
            <a:pPr lvl="1"/>
            <a:r>
              <a:rPr lang="en-US" sz="1600" dirty="0">
                <a:solidFill>
                  <a:schemeClr val="tx1"/>
                </a:solidFill>
              </a:rPr>
              <a:t>Cloud Delivery Enablement</a:t>
            </a:r>
          </a:p>
          <a:p>
            <a:pPr lvl="1"/>
            <a:r>
              <a:rPr lang="en-US" sz="1600" dirty="0">
                <a:solidFill>
                  <a:schemeClr val="tx1"/>
                </a:solidFill>
              </a:rPr>
              <a:t>Cloud Operations and Optimization</a:t>
            </a:r>
          </a:p>
          <a:p>
            <a:pPr lvl="1"/>
            <a:r>
              <a:rPr lang="en-US" sz="1600" dirty="0">
                <a:solidFill>
                  <a:schemeClr val="tx1"/>
                </a:solidFill>
              </a:rPr>
              <a:t>Security, Risk, and Compliance</a:t>
            </a:r>
          </a:p>
          <a:p>
            <a:pPr lvl="1"/>
            <a:r>
              <a:rPr lang="en-US" sz="1600" dirty="0">
                <a:solidFill>
                  <a:schemeClr val="tx1"/>
                </a:solidFill>
              </a:rPr>
              <a:t>Innovation and Digital Enablement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39C164-EE7E-29F1-CC2D-BD45B07533BC}"/>
              </a:ext>
            </a:extLst>
          </p:cNvPr>
          <p:cNvSpPr txBox="1"/>
          <p:nvPr/>
        </p:nvSpPr>
        <p:spPr>
          <a:xfrm>
            <a:off x="8256000" y="1212538"/>
            <a:ext cx="3600000" cy="47928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2000" b="1"/>
            </a:lvl1pPr>
          </a:lstStyle>
          <a:p>
            <a:r>
              <a:rPr lang="en-IN" sz="1600" dirty="0"/>
              <a:t>Business Capabilities</a:t>
            </a:r>
            <a:endParaRPr lang="en-US" sz="160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E39078D-BF6F-C987-2793-141281361CCF}"/>
              </a:ext>
            </a:extLst>
          </p:cNvPr>
          <p:cNvSpPr txBox="1">
            <a:spLocks/>
          </p:cNvSpPr>
          <p:nvPr/>
        </p:nvSpPr>
        <p:spPr>
          <a:xfrm>
            <a:off x="366367" y="4324327"/>
            <a:ext cx="3984784" cy="1662801"/>
          </a:xfrm>
          <a:prstGeom prst="rect">
            <a:avLst/>
          </a:prstGeo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i="1" dirty="0">
                <a:solidFill>
                  <a:schemeClr val="tx1"/>
                </a:solidFill>
              </a:rPr>
              <a:t>(Who owns and operates)</a:t>
            </a:r>
            <a:endParaRPr lang="en-US" sz="1800" b="1" dirty="0">
              <a:solidFill>
                <a:schemeClr val="tx1"/>
              </a:solidFill>
            </a:endParaRPr>
          </a:p>
          <a:p>
            <a:pPr lvl="1"/>
            <a:r>
              <a:rPr lang="en-US" sz="1600" dirty="0">
                <a:solidFill>
                  <a:schemeClr val="tx1"/>
                </a:solidFill>
              </a:rPr>
              <a:t>Centralized platform and governance capabilities</a:t>
            </a:r>
          </a:p>
          <a:p>
            <a:pPr lvl="1"/>
            <a:r>
              <a:rPr lang="en-US" sz="1600" dirty="0">
                <a:solidFill>
                  <a:schemeClr val="tx1"/>
                </a:solidFill>
              </a:rPr>
              <a:t>Federated delivery and operations by product teams</a:t>
            </a:r>
          </a:p>
          <a:p>
            <a:pPr lvl="1"/>
            <a:r>
              <a:rPr lang="en-US" sz="1600" dirty="0">
                <a:solidFill>
                  <a:schemeClr val="tx1"/>
                </a:solidFill>
              </a:rPr>
              <a:t>Embedded security and financial accountability	</a:t>
            </a:r>
            <a:endParaRPr lang="en-US" sz="1400" dirty="0">
              <a:solidFill>
                <a:schemeClr val="tx1"/>
              </a:solidFill>
            </a:endParaRPr>
          </a:p>
          <a:p>
            <a:pPr lvl="1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47D1B3-73C8-95D4-DC9C-19C263C9DFF8}"/>
              </a:ext>
            </a:extLst>
          </p:cNvPr>
          <p:cNvSpPr txBox="1"/>
          <p:nvPr/>
        </p:nvSpPr>
        <p:spPr>
          <a:xfrm>
            <a:off x="366367" y="3771612"/>
            <a:ext cx="3984784" cy="47928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2000" b="1"/>
            </a:lvl1pPr>
          </a:lstStyle>
          <a:p>
            <a:r>
              <a:rPr lang="en-IN" sz="1600" dirty="0"/>
              <a:t>Target Operating Model</a:t>
            </a:r>
            <a:endParaRPr lang="en-US" sz="1600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37F44B4-1276-B46C-991E-8770CFF4596E}"/>
              </a:ext>
            </a:extLst>
          </p:cNvPr>
          <p:cNvSpPr txBox="1">
            <a:spLocks/>
          </p:cNvSpPr>
          <p:nvPr/>
        </p:nvSpPr>
        <p:spPr>
          <a:xfrm>
            <a:off x="4520987" y="4331248"/>
            <a:ext cx="3600000" cy="1675994"/>
          </a:xfrm>
          <a:prstGeom prst="rect">
            <a:avLst/>
          </a:prstGeo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i="1" dirty="0">
                <a:solidFill>
                  <a:schemeClr val="tx1"/>
                </a:solidFill>
              </a:rPr>
              <a:t>(How change is executed)</a:t>
            </a:r>
            <a:endParaRPr lang="en-US" sz="1800" b="1" dirty="0">
              <a:solidFill>
                <a:schemeClr val="tx1"/>
              </a:solidFill>
            </a:endParaRPr>
          </a:p>
          <a:p>
            <a:pPr lvl="1"/>
            <a:r>
              <a:rPr lang="en-US" sz="1600" dirty="0">
                <a:solidFill>
                  <a:schemeClr val="tx1"/>
                </a:solidFill>
              </a:rPr>
              <a:t>Capability-aligned execution initiatives</a:t>
            </a:r>
          </a:p>
          <a:p>
            <a:pPr lvl="1"/>
            <a:r>
              <a:rPr lang="en-US" sz="1600" dirty="0">
                <a:solidFill>
                  <a:schemeClr val="tx1"/>
                </a:solidFill>
              </a:rPr>
              <a:t>Clear ownership and dependencies</a:t>
            </a:r>
          </a:p>
          <a:p>
            <a:pPr lvl="1"/>
            <a:r>
              <a:rPr lang="en-US" sz="1600" dirty="0">
                <a:solidFill>
                  <a:schemeClr val="tx1"/>
                </a:solidFill>
              </a:rPr>
              <a:t>Policy-driven guardrails, not manual controls</a:t>
            </a:r>
            <a:endParaRPr lang="en-US" sz="1400" dirty="0">
              <a:solidFill>
                <a:schemeClr val="tx1"/>
              </a:solidFill>
            </a:endParaRPr>
          </a:p>
          <a:p>
            <a:pPr lvl="1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286D0A-9D58-321A-4A0B-0A2D7989C792}"/>
              </a:ext>
            </a:extLst>
          </p:cNvPr>
          <p:cNvSpPr txBox="1"/>
          <p:nvPr/>
        </p:nvSpPr>
        <p:spPr>
          <a:xfrm>
            <a:off x="4548563" y="3761247"/>
            <a:ext cx="3600000" cy="47928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2000" b="1"/>
            </a:lvl1pPr>
          </a:lstStyle>
          <a:p>
            <a:r>
              <a:rPr lang="en-IN" sz="1600" dirty="0"/>
              <a:t>Execution Architecture</a:t>
            </a:r>
            <a:endParaRPr lang="en-US" sz="160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0DD53153-F12A-19D3-92F2-19950DC16B19}"/>
              </a:ext>
            </a:extLst>
          </p:cNvPr>
          <p:cNvSpPr txBox="1">
            <a:spLocks/>
          </p:cNvSpPr>
          <p:nvPr/>
        </p:nvSpPr>
        <p:spPr>
          <a:xfrm>
            <a:off x="8268392" y="4313962"/>
            <a:ext cx="3600000" cy="1675994"/>
          </a:xfrm>
          <a:prstGeom prst="rect">
            <a:avLst/>
          </a:prstGeo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i="1" dirty="0">
                <a:solidFill>
                  <a:schemeClr val="tx1"/>
                </a:solidFill>
              </a:rPr>
              <a:t>(When change happens)</a:t>
            </a:r>
          </a:p>
          <a:p>
            <a:pPr lvl="1"/>
            <a:r>
              <a:rPr lang="en-US" sz="1600" b="1" dirty="0">
                <a:solidFill>
                  <a:schemeClr val="tx1"/>
                </a:solidFill>
              </a:rPr>
              <a:t>Phase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b="1" dirty="0">
                <a:solidFill>
                  <a:schemeClr val="tx1"/>
                </a:solidFill>
              </a:rPr>
              <a:t>1</a:t>
            </a:r>
            <a:r>
              <a:rPr lang="en-US" sz="1600" dirty="0">
                <a:solidFill>
                  <a:schemeClr val="tx1"/>
                </a:solidFill>
              </a:rPr>
              <a:t>: Foundation and Stabilization</a:t>
            </a:r>
          </a:p>
          <a:p>
            <a:pPr lvl="1"/>
            <a:r>
              <a:rPr lang="en-US" sz="1600" b="1" dirty="0">
                <a:solidFill>
                  <a:schemeClr val="tx1"/>
                </a:solidFill>
              </a:rPr>
              <a:t>Phase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b="1" dirty="0">
                <a:solidFill>
                  <a:schemeClr val="tx1"/>
                </a:solidFill>
              </a:rPr>
              <a:t>2</a:t>
            </a:r>
            <a:r>
              <a:rPr lang="en-US" sz="1600" dirty="0">
                <a:solidFill>
                  <a:schemeClr val="tx1"/>
                </a:solidFill>
              </a:rPr>
              <a:t>: Standardization and Scale</a:t>
            </a:r>
          </a:p>
          <a:p>
            <a:pPr lvl="1"/>
            <a:r>
              <a:rPr lang="en-US" sz="1600" b="1" dirty="0">
                <a:solidFill>
                  <a:schemeClr val="tx1"/>
                </a:solidFill>
              </a:rPr>
              <a:t>Phase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b="1" dirty="0">
                <a:solidFill>
                  <a:schemeClr val="tx1"/>
                </a:solidFill>
              </a:rPr>
              <a:t>3</a:t>
            </a:r>
            <a:r>
              <a:rPr lang="en-US" sz="1600" dirty="0">
                <a:solidFill>
                  <a:schemeClr val="tx1"/>
                </a:solidFill>
              </a:rPr>
              <a:t>: Optimization and Innovation</a:t>
            </a:r>
            <a:endParaRPr lang="en-US" sz="1400" dirty="0">
              <a:solidFill>
                <a:schemeClr val="tx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B6D3EF5-91EA-FD6E-9F7D-AAD3BB6EF4A4}"/>
              </a:ext>
            </a:extLst>
          </p:cNvPr>
          <p:cNvSpPr txBox="1"/>
          <p:nvPr/>
        </p:nvSpPr>
        <p:spPr>
          <a:xfrm>
            <a:off x="8268392" y="3761247"/>
            <a:ext cx="3600000" cy="47928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2000" b="1"/>
            </a:lvl1pPr>
          </a:lstStyle>
          <a:p>
            <a:r>
              <a:rPr lang="en-IN" sz="1600" dirty="0"/>
              <a:t>Transformation Roadmap</a:t>
            </a:r>
            <a:endParaRPr lang="en-US" sz="1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B892708-31A0-727D-CB05-D2C0BB6E6E37}"/>
              </a:ext>
            </a:extLst>
          </p:cNvPr>
          <p:cNvSpPr txBox="1"/>
          <p:nvPr/>
        </p:nvSpPr>
        <p:spPr>
          <a:xfrm>
            <a:off x="723086" y="6080678"/>
            <a:ext cx="111476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Outcome: </a:t>
            </a:r>
            <a:r>
              <a:rPr lang="en-US" dirty="0"/>
              <a:t>A traceable, execution-ready cloud transformation architecture that converts business strategy into sustainable delivery outcomes.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2181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2138</TotalTime>
  <Words>183</Words>
  <Application>Microsoft Office PowerPoint</Application>
  <PresentationFormat>Widescreen</PresentationFormat>
  <Paragraphs>37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End-to-End Cloud Transformation Architecture Summary From Business Strategy to Executable Outcomes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Sambhav Pandey</dc:creator>
  <cp:lastModifiedBy>Sambhav Pandey</cp:lastModifiedBy>
  <cp:revision>76</cp:revision>
  <dcterms:created xsi:type="dcterms:W3CDTF">2025-12-13T13:21:05Z</dcterms:created>
  <dcterms:modified xsi:type="dcterms:W3CDTF">2025-12-25T11:41:58Z</dcterms:modified>
</cp:coreProperties>
</file>