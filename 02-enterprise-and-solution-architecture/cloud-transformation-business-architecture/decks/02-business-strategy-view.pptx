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8" r:id="rId3"/>
    <p:sldId id="260" r:id="rId4"/>
    <p:sldId id="261" r:id="rId5"/>
    <p:sldId id="262" r:id="rId6"/>
    <p:sldId id="264" r:id="rId7"/>
    <p:sldId id="265" r:id="rId8"/>
    <p:sldId id="269" r:id="rId9"/>
    <p:sldId id="267" r:id="rId10"/>
    <p:sldId id="270" r:id="rId11"/>
    <p:sldId id="271" r:id="rId12"/>
    <p:sldId id="272" r:id="rId13"/>
    <p:sldId id="268" r:id="rId14"/>
    <p:sldId id="27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80" d="100"/>
          <a:sy n="80" d="100"/>
        </p:scale>
        <p:origin x="58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60000" cy="360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6B2DA-6A1F-ABED-E3A8-52586CD3F8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969E8D-4E38-DC59-ACF4-A8012CA392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BB27D6-E10F-E02C-2E52-7250C8728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FCE1A-A6A6-5B5B-AC7B-B102B0C50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37EFC-0FFD-D271-68BE-E11541644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5373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95486-8833-D29A-C376-F0C724020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54B1F-86FF-D4D7-0C24-02DDE4DB89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1CCBF-97B1-2B0D-C5B5-1B7AACCB9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A5BB66-1533-BB45-EBE7-D4D59AFE5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7F07F-5244-D7EA-B857-A5DF59713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5695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B2DC0-CC40-A08E-5DDB-85FBCBC82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8D9F73-6EBF-D5BC-439E-006C7087FE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ADD9C3-872E-37A6-6966-185EBF213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BE52F-FAA2-223A-2FCE-40C47E2C9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11D50-922D-1DE8-917C-A3931180D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0270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E48BB-EB8F-56BB-A8DB-902650DCB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CE445-808E-D2D8-99A0-7D08D4F00E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1E9938-FCC9-E000-DB18-52A44F27F7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F38832-6ABA-5C61-79BA-1CD251B28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9B765-49E7-9951-90C2-695B36CD6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C10948-1C7E-11EB-0C82-A61723833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5687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42A28-F4F4-7B70-865A-DDAFFD107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DC4322-68AA-8DA9-074D-EF87FFA6F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DF39CF-6304-4DF5-3245-14010E37C2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DAC0AC-BB28-CA9B-D780-F23AEFECFB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D08ED6-7E1A-FEB4-450F-F20EABAF6B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0D8B05-2720-B045-CA30-84BDE4DA8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BA8055-6E29-14C2-2386-99AA91796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397C69-C3DD-2D22-98DA-3D95E97E6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4969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C54AB-C445-CE73-BB9F-E82B08EDA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841F5E-2A58-2994-6EB0-9B4C0A2A4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9D7A3E-5EB1-F79D-A8B7-B5AA272B6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CF46FC-E099-7931-76B2-E60C9A2E2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8652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F01050-AC9A-F640-F228-7CF292F6F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1112B4-BCB0-DE15-DD29-881EFA675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CDC9D-4ADC-F3C6-8DBD-0C5EFB50B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2021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5B8A8-F7CD-80C2-94AA-53CD8F616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07782-06E6-0209-2F2D-6BB0933815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E535CA-C15A-A263-2673-6E21A34420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0FD550-0B99-7F90-11C9-12E7D608C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B826DD-3181-65CF-FC01-2EF77FDFE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A5CC22-76B0-132A-3B1C-21BAC2639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6708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12156-046E-BA01-134F-B85028D01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1FDAAE-1C70-45F0-D2B0-CB02ABB9F3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B241F3-FF67-BF54-65AB-0D71F43BBA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37BBA5-DE3E-8A9A-1404-34DD3B523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C4C49F-543B-F6F2-3326-C5850D287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DA0968-C07F-344B-A540-65F4DD038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8439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4BAE0-5302-73F0-9608-5F20D3455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E05C13-61D4-8300-49E0-20088EB9D4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406A95-952F-23C6-7455-29A6015E3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E1AF31-DFD7-FF37-D543-D6B5EB0C6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DE840-9D3C-FCAB-AFFE-05E1FF3AE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9773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2BF280-65A7-6753-C51C-1E2C1351A4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E14C68-090B-AEE0-D622-C9D290BC7B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FC9A35-C26F-7F72-CDAC-C5235A0BA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E1653-FD56-392C-3E9F-32D3915D9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84F79-A0A4-604A-F7B7-84F8145F3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9351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0B050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25333E-6900-7841-53D6-37186BC83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B2D552-1BBE-AE44-521F-5C2B2A95CE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90D7A-9A26-0C8B-A978-04A81B3575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4654AC-AA1B-2345-F70F-15BA7C5706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71790-E29D-5C10-A185-BFC1AE17B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  <p:pic>
        <p:nvPicPr>
          <p:cNvPr id="14" name="Picture 1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F1CD0A77-8F98-0C5F-B8E1-85FB3569C13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duotone>
              <a:prstClr val="black"/>
              <a:schemeClr val="accent2">
                <a:lumMod val="75000"/>
                <a:tint val="45000"/>
                <a:satMod val="400000"/>
              </a:schemeClr>
            </a:duotone>
            <a:alphaModFix amt="54000"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colorTemperature colorTemp="6300"/>
                    </a14:imgEffect>
                    <a14:imgEffect>
                      <a14:saturation sat="9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60" t="10101" r="7967" b="6802"/>
          <a:stretch>
            <a:fillRect/>
          </a:stretch>
        </p:blipFill>
        <p:spPr>
          <a:xfrm rot="2054607">
            <a:off x="9089867" y="5595424"/>
            <a:ext cx="2310816" cy="17599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26576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0F7C6281-546D-97BA-2D5C-54F7958656A1}"/>
              </a:ext>
            </a:extLst>
          </p:cNvPr>
          <p:cNvSpPr/>
          <p:nvPr/>
        </p:nvSpPr>
        <p:spPr>
          <a:xfrm>
            <a:off x="3216000" y="189000"/>
            <a:ext cx="6256020" cy="5974080"/>
          </a:xfrm>
          <a:prstGeom prst="flowChartConnector">
            <a:avLst/>
          </a:prstGeom>
          <a:gradFill flip="none" rotWithShape="1">
            <a:gsLst>
              <a:gs pos="100000">
                <a:schemeClr val="accent2">
                  <a:lumMod val="20000"/>
                  <a:lumOff val="80000"/>
                </a:schemeClr>
              </a:gs>
              <a:gs pos="0">
                <a:schemeClr val="accent2">
                  <a:lumMod val="20000"/>
                  <a:lumOff val="80000"/>
                </a:schemeClr>
              </a:gs>
              <a:gs pos="500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95000">
                <a:schemeClr val="accent1">
                  <a:shade val="100000"/>
                  <a:satMod val="115000"/>
                </a:schemeClr>
              </a:gs>
            </a:gsLst>
            <a:lin ang="5400000" scaled="0"/>
            <a:tileRect/>
          </a:gradFill>
          <a:effectLst>
            <a:outerShdw blurRad="50800" dist="38100" algn="l" rotWithShape="0">
              <a:prstClr val="black">
                <a:alpha val="40000"/>
              </a:prstClr>
            </a:outerShdw>
            <a:reflection blurRad="6350" stA="50000" endA="295" endPos="92000" dist="1016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4A33D1-3B2C-FAB2-F576-0287340A16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14700" y="1129004"/>
            <a:ext cx="5844540" cy="3267736"/>
          </a:xfr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sz="4800" dirty="0">
                <a:solidFill>
                  <a:schemeClr val="bg1"/>
                </a:solidFill>
              </a:rPr>
              <a:t>Business Strategy View</a:t>
            </a:r>
            <a:br>
              <a:rPr lang="en-IN" sz="4800" dirty="0">
                <a:solidFill>
                  <a:schemeClr val="bg1"/>
                </a:solidFill>
              </a:rPr>
            </a:b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Cloud Transformation at Northstar Digital Group</a:t>
            </a:r>
            <a:br>
              <a:rPr lang="en-IN" sz="4800" dirty="0">
                <a:solidFill>
                  <a:schemeClr val="bg1"/>
                </a:solidFill>
              </a:rPr>
            </a:br>
            <a:endParaRPr lang="en-IN" sz="48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E7542A-60C5-B98A-FDE5-A8B123414E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98670" y="4419600"/>
            <a:ext cx="3611882" cy="579120"/>
          </a:xfrm>
        </p:spPr>
        <p:txBody>
          <a:bodyPr>
            <a:normAutofit/>
          </a:bodyPr>
          <a:lstStyle/>
          <a:p>
            <a:r>
              <a:rPr lang="en-US" sz="1400" dirty="0">
                <a:solidFill>
                  <a:srgbClr val="FFFF00"/>
                </a:solidFill>
              </a:rPr>
              <a:t>Fictional Enterprise Case Study for Portfolio Demonstration</a:t>
            </a:r>
            <a:endParaRPr lang="en-IN" sz="1400" dirty="0">
              <a:solidFill>
                <a:srgbClr val="FFFF00"/>
              </a:solidFill>
            </a:endParaRPr>
          </a:p>
          <a:p>
            <a:endParaRPr lang="en-IN" sz="2800" dirty="0">
              <a:solidFill>
                <a:srgbClr val="FFFF00"/>
              </a:solidFill>
            </a:endParaRPr>
          </a:p>
        </p:txBody>
      </p: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B9BB8CB7-1FAC-ECE1-C3C2-F5D463821095}"/>
              </a:ext>
            </a:extLst>
          </p:cNvPr>
          <p:cNvCxnSpPr>
            <a:cxnSpLocks/>
          </p:cNvCxnSpPr>
          <p:nvPr/>
        </p:nvCxnSpPr>
        <p:spPr>
          <a:xfrm>
            <a:off x="1615440" y="640080"/>
            <a:ext cx="914400" cy="914400"/>
          </a:xfrm>
          <a:prstGeom prst="curvedConnector3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426A66B6-2B87-7C01-5A92-985D13022792}"/>
              </a:ext>
            </a:extLst>
          </p:cNvPr>
          <p:cNvCxnSpPr>
            <a:cxnSpLocks/>
          </p:cNvCxnSpPr>
          <p:nvPr/>
        </p:nvCxnSpPr>
        <p:spPr>
          <a:xfrm>
            <a:off x="1013460" y="944880"/>
            <a:ext cx="914400" cy="914400"/>
          </a:xfrm>
          <a:prstGeom prst="curvedConnector3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82E8CD61-D9EA-3353-2BAA-5756E0FF6029}"/>
              </a:ext>
            </a:extLst>
          </p:cNvPr>
          <p:cNvCxnSpPr>
            <a:cxnSpLocks/>
          </p:cNvCxnSpPr>
          <p:nvPr/>
        </p:nvCxnSpPr>
        <p:spPr>
          <a:xfrm>
            <a:off x="556260" y="1249680"/>
            <a:ext cx="914400" cy="914400"/>
          </a:xfrm>
          <a:prstGeom prst="curvedConnector3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33036F7E-FE50-67C1-146A-E79F40AF220C}"/>
              </a:ext>
            </a:extLst>
          </p:cNvPr>
          <p:cNvCxnSpPr>
            <a:cxnSpLocks/>
          </p:cNvCxnSpPr>
          <p:nvPr/>
        </p:nvCxnSpPr>
        <p:spPr>
          <a:xfrm>
            <a:off x="10477500" y="4236720"/>
            <a:ext cx="914400" cy="914400"/>
          </a:xfrm>
          <a:prstGeom prst="curvedConnector3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45B97D4F-1F4B-C1A8-1553-4202AE75C63D}"/>
              </a:ext>
            </a:extLst>
          </p:cNvPr>
          <p:cNvCxnSpPr>
            <a:cxnSpLocks/>
          </p:cNvCxnSpPr>
          <p:nvPr/>
        </p:nvCxnSpPr>
        <p:spPr>
          <a:xfrm>
            <a:off x="9875520" y="4541520"/>
            <a:ext cx="914400" cy="914400"/>
          </a:xfrm>
          <a:prstGeom prst="curvedConnector3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9C95EB2F-0858-99F9-F412-3A249DAD45E1}"/>
              </a:ext>
            </a:extLst>
          </p:cNvPr>
          <p:cNvCxnSpPr>
            <a:cxnSpLocks/>
          </p:cNvCxnSpPr>
          <p:nvPr/>
        </p:nvCxnSpPr>
        <p:spPr>
          <a:xfrm>
            <a:off x="9418320" y="4846320"/>
            <a:ext cx="914400" cy="914400"/>
          </a:xfrm>
          <a:prstGeom prst="curvedConnector3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9B1806E6-45DB-39EE-42D7-523A6FEB1BEF}"/>
              </a:ext>
            </a:extLst>
          </p:cNvPr>
          <p:cNvCxnSpPr>
            <a:cxnSpLocks/>
          </p:cNvCxnSpPr>
          <p:nvPr/>
        </p:nvCxnSpPr>
        <p:spPr>
          <a:xfrm>
            <a:off x="3067050" y="3665220"/>
            <a:ext cx="914400" cy="914400"/>
          </a:xfrm>
          <a:prstGeom prst="curvedConnector3">
            <a:avLst>
              <a:gd name="adj1" fmla="val -75001"/>
            </a:avLst>
          </a:prstGeom>
          <a:ln w="228600">
            <a:solidFill>
              <a:schemeClr val="accent2">
                <a:lumMod val="75000"/>
              </a:schemeClr>
            </a:solidFill>
            <a:tailEnd type="triangle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50" name="Picture 2">
            <a:extLst>
              <a:ext uri="{FF2B5EF4-FFF2-40B4-BE49-F238E27FC236}">
                <a16:creationId xmlns:a16="http://schemas.microsoft.com/office/drawing/2014/main" id="{5DE5B677-5C86-4C22-0771-91FA85E713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2">
                <a:lumMod val="7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0740" y="117919"/>
            <a:ext cx="1661160" cy="1666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AF82C92-844C-5AEA-478A-3EA6BEF7DC8C}"/>
              </a:ext>
            </a:extLst>
          </p:cNvPr>
          <p:cNvSpPr txBox="1"/>
          <p:nvPr/>
        </p:nvSpPr>
        <p:spPr>
          <a:xfrm>
            <a:off x="0" y="6334780"/>
            <a:ext cx="120559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Disclaimer: Fictional Enterprise Case Study for Portfolio Demonstration</a:t>
            </a: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6493476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0D393-4269-A465-24DD-FA12087C3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852" y="1629000"/>
            <a:ext cx="2712148" cy="3960000"/>
          </a:xfr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lvl="1"/>
            <a:endParaRPr lang="en-US" sz="1800" dirty="0">
              <a:solidFill>
                <a:schemeClr val="tx1"/>
              </a:solidFill>
            </a:endParaRPr>
          </a:p>
          <a:p>
            <a:pPr lvl="1"/>
            <a:endParaRPr lang="en-US" sz="1800" dirty="0">
              <a:solidFill>
                <a:schemeClr val="tx1"/>
              </a:solidFill>
            </a:endParaRPr>
          </a:p>
          <a:p>
            <a:pPr lvl="1"/>
            <a:endParaRPr lang="en-US" sz="1800" dirty="0">
              <a:solidFill>
                <a:schemeClr val="tx1"/>
              </a:solidFill>
            </a:endParaRP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Articulate Northstar Digital Group’s cloud transformation strategy over a two-year horizon</a:t>
            </a:r>
          </a:p>
          <a:p>
            <a:endParaRPr lang="en-US" sz="1800" dirty="0">
              <a:solidFill>
                <a:schemeClr val="tx1"/>
              </a:solidFill>
            </a:endParaRPr>
          </a:p>
          <a:p>
            <a:endParaRPr lang="en-US" sz="1800" dirty="0">
              <a:solidFill>
                <a:schemeClr val="tx1"/>
              </a:solidFill>
            </a:endParaRPr>
          </a:p>
          <a:p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4CF3204B-E949-CC10-360B-13505F53D56D}"/>
              </a:ext>
            </a:extLst>
          </p:cNvPr>
          <p:cNvSpPr/>
          <p:nvPr/>
        </p:nvSpPr>
        <p:spPr>
          <a:xfrm>
            <a:off x="503852" y="434340"/>
            <a:ext cx="10992148" cy="701040"/>
          </a:xfrm>
          <a:prstGeom prst="chevron">
            <a:avLst/>
          </a:prstGeom>
          <a:gradFill>
            <a:gsLst>
              <a:gs pos="100000">
                <a:schemeClr val="accent4">
                  <a:lumMod val="20000"/>
                  <a:lumOff val="80000"/>
                </a:schemeClr>
              </a:gs>
              <a:gs pos="91000">
                <a:schemeClr val="accent4">
                  <a:lumMod val="50000"/>
                </a:schemeClr>
              </a:gs>
              <a:gs pos="18000">
                <a:schemeClr val="accent4">
                  <a:lumMod val="5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Purpose of This View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CAC54E4-BAD0-A158-79CF-0BF9F522792A}"/>
              </a:ext>
            </a:extLst>
          </p:cNvPr>
          <p:cNvSpPr txBox="1">
            <a:spLocks/>
          </p:cNvSpPr>
          <p:nvPr/>
        </p:nvSpPr>
        <p:spPr>
          <a:xfrm>
            <a:off x="3576000" y="1629000"/>
            <a:ext cx="2520000" cy="3960000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Define strategic direction and transformation intent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C153918-C5A3-BF13-046D-79F24117297A}"/>
              </a:ext>
            </a:extLst>
          </p:cNvPr>
          <p:cNvSpPr txBox="1">
            <a:spLocks/>
          </p:cNvSpPr>
          <p:nvPr/>
        </p:nvSpPr>
        <p:spPr>
          <a:xfrm>
            <a:off x="6456000" y="1629000"/>
            <a:ext cx="2520000" cy="3960000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Provide a foundation for aligning enterprise architecture and transformation initiatives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9DB42C1-08BD-3C2E-224F-F54E93426130}"/>
              </a:ext>
            </a:extLst>
          </p:cNvPr>
          <p:cNvSpPr txBox="1">
            <a:spLocks/>
          </p:cNvSpPr>
          <p:nvPr/>
        </p:nvSpPr>
        <p:spPr>
          <a:xfrm>
            <a:off x="9336000" y="1629000"/>
            <a:ext cx="2136000" cy="3960000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Serve as an anchor for downstream architecture views and roadmaps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2799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A3EB68-1BC5-9C95-F82A-44A373BB7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3B7D2-ECC7-1DEB-C776-7ED3C7A873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001" y="1989001"/>
            <a:ext cx="5760000" cy="3240000"/>
          </a:xfr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lvl="1"/>
            <a:endParaRPr lang="en-US" sz="1800" dirty="0">
              <a:solidFill>
                <a:schemeClr val="tx1"/>
              </a:solidFill>
            </a:endParaRPr>
          </a:p>
          <a:p>
            <a:pPr lvl="1"/>
            <a:endParaRPr lang="en-US" sz="1800" dirty="0">
              <a:solidFill>
                <a:schemeClr val="tx1"/>
              </a:solidFill>
            </a:endParaRP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Global manufacturing and distribution enterprise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Multi-region manufacturing plants and supplier ecosystem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Global distribution and sales operations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Heavy reliance on ERP, supply chain, and operational systems</a:t>
            </a: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BD6D2B14-E322-9762-7DD6-5896F1480A70}"/>
              </a:ext>
            </a:extLst>
          </p:cNvPr>
          <p:cNvSpPr/>
          <p:nvPr/>
        </p:nvSpPr>
        <p:spPr>
          <a:xfrm>
            <a:off x="525780" y="388620"/>
            <a:ext cx="10995971" cy="701040"/>
          </a:xfrm>
          <a:prstGeom prst="chevron">
            <a:avLst/>
          </a:prstGeom>
          <a:gradFill>
            <a:gsLst>
              <a:gs pos="100000">
                <a:schemeClr val="accent4">
                  <a:lumMod val="20000"/>
                  <a:lumOff val="80000"/>
                </a:schemeClr>
              </a:gs>
              <a:gs pos="91000">
                <a:schemeClr val="accent4">
                  <a:lumMod val="50000"/>
                </a:schemeClr>
              </a:gs>
              <a:gs pos="18000">
                <a:schemeClr val="accent4">
                  <a:lumMod val="5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Enterprise Overview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9D7B3DA-2620-E632-4E26-E338DC9F2643}"/>
              </a:ext>
            </a:extLst>
          </p:cNvPr>
          <p:cNvSpPr txBox="1">
            <a:spLocks/>
          </p:cNvSpPr>
          <p:nvPr/>
        </p:nvSpPr>
        <p:spPr>
          <a:xfrm>
            <a:off x="6816000" y="1989000"/>
            <a:ext cx="4680000" cy="3240001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/>
              <a:t>Predominantly </a:t>
            </a:r>
            <a:r>
              <a:rPr lang="en-US" dirty="0"/>
              <a:t>legacy, on-premises environments</a:t>
            </a:r>
          </a:p>
          <a:p>
            <a:pPr lvl="1"/>
            <a:r>
              <a:rPr lang="en-US" dirty="0"/>
              <a:t>Regionally fragmented systems</a:t>
            </a:r>
          </a:p>
          <a:p>
            <a:pPr lvl="1"/>
            <a:r>
              <a:rPr lang="en-US" dirty="0"/>
              <a:t>Limited scalability, agility, and cost transparency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A007F9-AF96-E212-5622-C322F8188368}"/>
              </a:ext>
            </a:extLst>
          </p:cNvPr>
          <p:cNvSpPr txBox="1"/>
          <p:nvPr/>
        </p:nvSpPr>
        <p:spPr>
          <a:xfrm>
            <a:off x="696000" y="1269000"/>
            <a:ext cx="5760000" cy="56270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400" b="1"/>
            </a:lvl1pPr>
          </a:lstStyle>
          <a:p>
            <a:r>
              <a:rPr lang="en-US" sz="2000" dirty="0"/>
              <a:t>Enterprise Context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9FFA13-E578-3692-45B0-18D1FC655D87}"/>
              </a:ext>
            </a:extLst>
          </p:cNvPr>
          <p:cNvSpPr txBox="1"/>
          <p:nvPr/>
        </p:nvSpPr>
        <p:spPr>
          <a:xfrm>
            <a:off x="6816000" y="1269000"/>
            <a:ext cx="4680000" cy="56270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</a:lstStyle>
          <a:p>
            <a:r>
              <a:rPr lang="en-US" dirty="0"/>
              <a:t>Current IT State</a:t>
            </a:r>
          </a:p>
        </p:txBody>
      </p:sp>
    </p:spTree>
    <p:extLst>
      <p:ext uri="{BB962C8B-B14F-4D97-AF65-F5344CB8AC3E}">
        <p14:creationId xmlns:p14="http://schemas.microsoft.com/office/powerpoint/2010/main" val="28944580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BAE8FF-6368-223A-594A-F2984F397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7372D-3AA3-FDE4-AFAB-3519E5752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000" y="2349000"/>
            <a:ext cx="10080000" cy="2880000"/>
          </a:xfr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lvl="1"/>
            <a:endParaRPr lang="en-US" sz="1800" dirty="0">
              <a:solidFill>
                <a:schemeClr val="tx1"/>
              </a:solidFill>
            </a:endParaRPr>
          </a:p>
          <a:p>
            <a:pPr lvl="1"/>
            <a:endParaRPr lang="en-US" sz="1800" dirty="0">
              <a:solidFill>
                <a:schemeClr val="tx1"/>
              </a:solidFill>
            </a:endParaRPr>
          </a:p>
          <a:p>
            <a:pPr lvl="1"/>
            <a:r>
              <a:rPr lang="en-US" sz="1800">
                <a:solidFill>
                  <a:schemeClr val="tx1"/>
                </a:solidFill>
              </a:rPr>
              <a:t>Increasing </a:t>
            </a:r>
            <a:r>
              <a:rPr lang="en-US" sz="1800" dirty="0">
                <a:solidFill>
                  <a:schemeClr val="tx1"/>
                </a:solidFill>
              </a:rPr>
              <a:t>pressure on manufacturing margins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Supply chain volatility and demand uncertainty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Growing need for real-time operational visibility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Increased reliance on data-driven planning and forecasting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Industry shift toward digital and </a:t>
            </a:r>
            <a:r>
              <a:rPr lang="en-US" sz="1800">
                <a:solidFill>
                  <a:schemeClr val="tx1"/>
                </a:solidFill>
              </a:rPr>
              <a:t>platform-enabled operations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870303DF-4D7C-6BF1-5B4F-682419A8B1D4}"/>
              </a:ext>
            </a:extLst>
          </p:cNvPr>
          <p:cNvSpPr/>
          <p:nvPr/>
        </p:nvSpPr>
        <p:spPr>
          <a:xfrm>
            <a:off x="696000" y="388620"/>
            <a:ext cx="10440000" cy="701040"/>
          </a:xfrm>
          <a:prstGeom prst="chevron">
            <a:avLst/>
          </a:prstGeom>
          <a:gradFill>
            <a:gsLst>
              <a:gs pos="100000">
                <a:schemeClr val="accent4">
                  <a:lumMod val="20000"/>
                  <a:lumOff val="80000"/>
                </a:schemeClr>
              </a:gs>
              <a:gs pos="91000">
                <a:schemeClr val="accent4">
                  <a:lumMod val="50000"/>
                </a:schemeClr>
              </a:gs>
              <a:gs pos="18000">
                <a:schemeClr val="accent4">
                  <a:lumMod val="5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External Business Drivers → Market &amp; Industry Drivers</a:t>
            </a:r>
            <a:endParaRPr lang="en-IN" sz="2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DE0310-ADDC-51E6-FD51-EC35A351C02C}"/>
              </a:ext>
            </a:extLst>
          </p:cNvPr>
          <p:cNvSpPr txBox="1"/>
          <p:nvPr/>
        </p:nvSpPr>
        <p:spPr>
          <a:xfrm>
            <a:off x="696000" y="1629000"/>
            <a:ext cx="10080000" cy="56270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</a:lstStyle>
          <a:p>
            <a:r>
              <a:rPr lang="en-US" dirty="0"/>
              <a:t>Market and Industry Drivers</a:t>
            </a:r>
          </a:p>
        </p:txBody>
      </p:sp>
    </p:spTree>
    <p:extLst>
      <p:ext uri="{BB962C8B-B14F-4D97-AF65-F5344CB8AC3E}">
        <p14:creationId xmlns:p14="http://schemas.microsoft.com/office/powerpoint/2010/main" val="4182181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C65B65-DA3E-321D-B286-3D802AD18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6AEFA-6801-CED6-EE5F-7758D5F320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000" y="2349000"/>
            <a:ext cx="10440000" cy="2880000"/>
          </a:xfr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lvl="1"/>
            <a:endParaRPr lang="en-US" sz="1800" dirty="0">
              <a:solidFill>
                <a:schemeClr val="tx1"/>
              </a:solidFill>
            </a:endParaRPr>
          </a:p>
          <a:p>
            <a:pPr lvl="1"/>
            <a:endParaRPr lang="en-US" sz="1800" dirty="0">
              <a:solidFill>
                <a:schemeClr val="tx1"/>
              </a:solidFill>
            </a:endParaRP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Legacy ERP and manufacturing systems in regional data centers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Fragmented IT environments across business units and geographies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High infrastructure and maintenance costs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Manual governance and inconsistent security controls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Slow delivery of digital capabilities to business teams</a:t>
            </a: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266D3853-4F56-C4AD-7E4E-7B35CF747A52}"/>
              </a:ext>
            </a:extLst>
          </p:cNvPr>
          <p:cNvSpPr/>
          <p:nvPr/>
        </p:nvSpPr>
        <p:spPr>
          <a:xfrm>
            <a:off x="696000" y="388620"/>
            <a:ext cx="10440000" cy="701040"/>
          </a:xfrm>
          <a:prstGeom prst="chevron">
            <a:avLst/>
          </a:prstGeom>
          <a:gradFill>
            <a:gsLst>
              <a:gs pos="100000">
                <a:schemeClr val="accent4">
                  <a:lumMod val="20000"/>
                  <a:lumOff val="80000"/>
                </a:schemeClr>
              </a:gs>
              <a:gs pos="91000">
                <a:schemeClr val="accent4">
                  <a:lumMod val="50000"/>
                </a:schemeClr>
              </a:gs>
              <a:gs pos="18000">
                <a:schemeClr val="accent4">
                  <a:lumMod val="5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Internal Business Drivers → Enterprise Drivers &amp; Constraints</a:t>
            </a:r>
            <a:endParaRPr lang="en-IN" sz="2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4BD438-03AC-6EE9-8B95-D64B809D0E1F}"/>
              </a:ext>
            </a:extLst>
          </p:cNvPr>
          <p:cNvSpPr txBox="1"/>
          <p:nvPr/>
        </p:nvSpPr>
        <p:spPr>
          <a:xfrm>
            <a:off x="696000" y="1629000"/>
            <a:ext cx="10440000" cy="646121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</a:lstStyle>
          <a:p>
            <a:r>
              <a:rPr lang="en-US"/>
              <a:t>Enterprise Challenges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2824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BEB00D-38E8-9B82-B9D9-41D230D32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CBFE3-9314-75BE-030F-8EABCD81A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000" y="1629000"/>
            <a:ext cx="10864629" cy="3600000"/>
          </a:xfr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lvl="1"/>
            <a:endParaRPr lang="en-US" sz="1800" dirty="0">
              <a:solidFill>
                <a:schemeClr val="tx1"/>
              </a:solidFill>
            </a:endParaRPr>
          </a:p>
          <a:p>
            <a:pPr lvl="1"/>
            <a:endParaRPr lang="en-US" sz="1800" dirty="0">
              <a:solidFill>
                <a:schemeClr val="tx1"/>
              </a:solidFill>
            </a:endParaRP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Evolve into a digitally enabled manufacturing enterprise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Use cloud platforms to improve agility and scalability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Enable resilient, standardized global operations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Establish transparent and accountable technology spending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Build a secure foundation for future digital innovation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Cloud is a business transformation enabler, not a technology refresh.</a:t>
            </a: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1CE611F1-3E86-31E7-0C31-8401D1A2F839}"/>
              </a:ext>
            </a:extLst>
          </p:cNvPr>
          <p:cNvSpPr/>
          <p:nvPr/>
        </p:nvSpPr>
        <p:spPr>
          <a:xfrm>
            <a:off x="696000" y="388620"/>
            <a:ext cx="10960292" cy="701040"/>
          </a:xfrm>
          <a:prstGeom prst="chevron">
            <a:avLst/>
          </a:prstGeom>
          <a:gradFill>
            <a:gsLst>
              <a:gs pos="100000">
                <a:schemeClr val="accent4">
                  <a:lumMod val="20000"/>
                  <a:lumOff val="80000"/>
                </a:schemeClr>
              </a:gs>
              <a:gs pos="91000">
                <a:schemeClr val="accent4">
                  <a:lumMod val="50000"/>
                </a:schemeClr>
              </a:gs>
              <a:gs pos="18000">
                <a:schemeClr val="accent4">
                  <a:lumMod val="5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Strategic Vision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1206293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38E431-74E4-525A-62D2-2C4573202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C8D04-2DD7-A9E5-9EE0-AA6D2F6F6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498" y="1629000"/>
            <a:ext cx="10982132" cy="3600000"/>
          </a:xfr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lvl="1"/>
            <a:endParaRPr lang="en-US" altLang="en-US" sz="1800" dirty="0">
              <a:solidFill>
                <a:schemeClr val="tx1"/>
              </a:solidFill>
            </a:endParaRPr>
          </a:p>
          <a:p>
            <a:pPr lvl="1"/>
            <a:endParaRPr lang="en-US" altLang="en-US" sz="1800" dirty="0">
              <a:solidFill>
                <a:schemeClr val="tx1"/>
              </a:solidFill>
            </a:endParaRPr>
          </a:p>
          <a:p>
            <a:pPr lvl="1"/>
            <a:endParaRPr lang="en-US" altLang="en-US" sz="1800" dirty="0">
              <a:solidFill>
                <a:schemeClr val="tx1"/>
              </a:solidFill>
            </a:endParaRPr>
          </a:p>
          <a:p>
            <a:pPr lvl="1"/>
            <a:r>
              <a:rPr lang="en-US" altLang="en-US" sz="1800" dirty="0">
                <a:solidFill>
                  <a:schemeClr val="tx1"/>
                </a:solidFill>
              </a:rPr>
              <a:t>Improve operational agility across plants and regions</a:t>
            </a:r>
          </a:p>
          <a:p>
            <a:pPr lvl="1"/>
            <a:r>
              <a:rPr lang="en-US" altLang="en-US" sz="1800" dirty="0">
                <a:solidFill>
                  <a:schemeClr val="tx1"/>
                </a:solidFill>
              </a:rPr>
              <a:t>Optimize IT and infrastructure costs</a:t>
            </a:r>
          </a:p>
          <a:p>
            <a:pPr lvl="1"/>
            <a:r>
              <a:rPr lang="en-US" altLang="en-US" sz="1800" dirty="0">
                <a:solidFill>
                  <a:schemeClr val="tx1"/>
                </a:solidFill>
              </a:rPr>
              <a:t>Strengthen resilience, security, and compliance</a:t>
            </a:r>
          </a:p>
          <a:p>
            <a:pPr lvl="1"/>
            <a:r>
              <a:rPr lang="en-US" altLang="en-US" sz="1800" dirty="0">
                <a:solidFill>
                  <a:schemeClr val="tx1"/>
                </a:solidFill>
              </a:rPr>
              <a:t>Enable data-driven decision making</a:t>
            </a:r>
          </a:p>
          <a:p>
            <a:pPr lvl="1"/>
            <a:r>
              <a:rPr lang="en-US" altLang="en-US" sz="1800" dirty="0">
                <a:solidFill>
                  <a:schemeClr val="tx1"/>
                </a:solidFill>
              </a:rPr>
              <a:t>Support long-term digital transformation initiatives</a:t>
            </a:r>
          </a:p>
          <a:p>
            <a:endParaRPr lang="en-US" dirty="0"/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AFA934A4-EFC9-D21A-A79A-227EDBF52385}"/>
              </a:ext>
            </a:extLst>
          </p:cNvPr>
          <p:cNvSpPr/>
          <p:nvPr/>
        </p:nvSpPr>
        <p:spPr>
          <a:xfrm>
            <a:off x="578498" y="388620"/>
            <a:ext cx="10982132" cy="701040"/>
          </a:xfrm>
          <a:prstGeom prst="chevron">
            <a:avLst/>
          </a:prstGeom>
          <a:gradFill>
            <a:gsLst>
              <a:gs pos="100000">
                <a:schemeClr val="accent4">
                  <a:lumMod val="20000"/>
                  <a:lumOff val="80000"/>
                </a:schemeClr>
              </a:gs>
              <a:gs pos="91000">
                <a:schemeClr val="accent4">
                  <a:lumMod val="50000"/>
                </a:schemeClr>
              </a:gs>
              <a:gs pos="18000">
                <a:schemeClr val="accent4">
                  <a:lumMod val="5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/>
              <a:t>Strategic Objectives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1876899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2A7E08-2E0A-A784-D111-C7F91EA1D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row: Chevron 6">
            <a:extLst>
              <a:ext uri="{FF2B5EF4-FFF2-40B4-BE49-F238E27FC236}">
                <a16:creationId xmlns:a16="http://schemas.microsoft.com/office/drawing/2014/main" id="{E79F2615-5297-3997-8EF8-920CFD2770F1}"/>
              </a:ext>
            </a:extLst>
          </p:cNvPr>
          <p:cNvSpPr/>
          <p:nvPr/>
        </p:nvSpPr>
        <p:spPr>
          <a:xfrm>
            <a:off x="606490" y="388620"/>
            <a:ext cx="10963470" cy="701040"/>
          </a:xfrm>
          <a:prstGeom prst="chevron">
            <a:avLst/>
          </a:prstGeom>
          <a:gradFill>
            <a:gsLst>
              <a:gs pos="100000">
                <a:schemeClr val="accent4">
                  <a:lumMod val="20000"/>
                  <a:lumOff val="80000"/>
                </a:schemeClr>
              </a:gs>
              <a:gs pos="91000">
                <a:schemeClr val="accent4">
                  <a:lumMod val="50000"/>
                </a:schemeClr>
              </a:gs>
              <a:gs pos="18000">
                <a:schemeClr val="accent4">
                  <a:lumMod val="5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/>
              <a:t>Target Business Outcomes</a:t>
            </a:r>
            <a:endParaRPr lang="en-IN" sz="3200" b="1" dirty="0"/>
          </a:p>
        </p:txBody>
      </p:sp>
      <p:graphicFrame>
        <p:nvGraphicFramePr>
          <p:cNvPr id="14" name="Content Placeholder 13">
            <a:extLst>
              <a:ext uri="{FF2B5EF4-FFF2-40B4-BE49-F238E27FC236}">
                <a16:creationId xmlns:a16="http://schemas.microsoft.com/office/drawing/2014/main" id="{E8633823-0D04-1584-6143-AB8A2A540B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6778120"/>
              </p:ext>
            </p:extLst>
          </p:nvPr>
        </p:nvGraphicFramePr>
        <p:xfrm>
          <a:off x="1056000" y="1625601"/>
          <a:ext cx="10080000" cy="3603401"/>
        </p:xfrm>
        <a:graphic>
          <a:graphicData uri="http://schemas.openxmlformats.org/drawingml/2006/table">
            <a:tbl>
              <a:tblPr/>
              <a:tblGrid>
                <a:gridCol w="3240000">
                  <a:extLst>
                    <a:ext uri="{9D8B030D-6E8A-4147-A177-3AD203B41FA5}">
                      <a16:colId xmlns:a16="http://schemas.microsoft.com/office/drawing/2014/main" val="3292743293"/>
                    </a:ext>
                  </a:extLst>
                </a:gridCol>
                <a:gridCol w="6840000">
                  <a:extLst>
                    <a:ext uri="{9D8B030D-6E8A-4147-A177-3AD203B41FA5}">
                      <a16:colId xmlns:a16="http://schemas.microsoft.com/office/drawing/2014/main" val="154747953"/>
                    </a:ext>
                  </a:extLst>
                </a:gridCol>
              </a:tblGrid>
              <a:tr h="5994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solidFill>
                            <a:schemeClr val="bg1"/>
                          </a:solidFill>
                        </a:rPr>
                        <a:t>Strategic Objective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10000">
                          <a:schemeClr val="accent4">
                            <a:lumMod val="50000"/>
                          </a:schemeClr>
                        </a:gs>
                        <a:gs pos="0">
                          <a:schemeClr val="accent4">
                            <a:lumMod val="20000"/>
                            <a:lumOff val="80000"/>
                          </a:schemeClr>
                        </a:gs>
                        <a:gs pos="100000">
                          <a:schemeClr val="accent4">
                            <a:lumMod val="5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solidFill>
                            <a:schemeClr val="bg1"/>
                          </a:solidFill>
                        </a:rPr>
                        <a:t>Target Business Outcome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9000">
                          <a:schemeClr val="accent4">
                            <a:lumMod val="50000"/>
                          </a:schemeClr>
                        </a:gs>
                        <a:gs pos="0">
                          <a:schemeClr val="accent4">
                            <a:lumMod val="20000"/>
                            <a:lumOff val="80000"/>
                          </a:schemeClr>
                        </a:gs>
                        <a:gs pos="100000">
                          <a:schemeClr val="accent4">
                            <a:lumMod val="5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13949729"/>
                  </a:ext>
                </a:extLst>
              </a:tr>
              <a:tr h="5994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Operational agility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Faster rollout across plants and regions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9350416"/>
                  </a:ext>
                </a:extLst>
              </a:tr>
              <a:tr h="6062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Cost optimization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Improved cost transparency and lower unit IT cost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5664741"/>
                  </a:ext>
                </a:extLst>
              </a:tr>
              <a:tr h="5994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tx1"/>
                          </a:solidFill>
                        </a:rPr>
                        <a:t>Resilience &amp; security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Higher availability and compliance consistency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5563476"/>
                  </a:ext>
                </a:extLst>
              </a:tr>
              <a:tr h="5994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tx1"/>
                          </a:solidFill>
                        </a:rPr>
                        <a:t>Data-driven decisions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Improved planning and forecasting 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136034"/>
                  </a:ext>
                </a:extLst>
              </a:tr>
              <a:tr h="5994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Digital foundation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Faster enablement of future initiatives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8483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7669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458BCB-2664-5BB5-3170-7192AA893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row: Chevron 6">
            <a:extLst>
              <a:ext uri="{FF2B5EF4-FFF2-40B4-BE49-F238E27FC236}">
                <a16:creationId xmlns:a16="http://schemas.microsoft.com/office/drawing/2014/main" id="{1E3F2C86-EC95-3252-5039-48170AB40F04}"/>
              </a:ext>
            </a:extLst>
          </p:cNvPr>
          <p:cNvSpPr/>
          <p:nvPr/>
        </p:nvSpPr>
        <p:spPr>
          <a:xfrm>
            <a:off x="336000" y="365760"/>
            <a:ext cx="11199747" cy="701040"/>
          </a:xfrm>
          <a:prstGeom prst="chevron">
            <a:avLst/>
          </a:prstGeom>
          <a:gradFill>
            <a:gsLst>
              <a:gs pos="100000">
                <a:schemeClr val="accent4">
                  <a:lumMod val="20000"/>
                  <a:lumOff val="80000"/>
                </a:schemeClr>
              </a:gs>
              <a:gs pos="91000">
                <a:schemeClr val="accent4">
                  <a:lumMod val="50000"/>
                </a:schemeClr>
              </a:gs>
              <a:gs pos="18000">
                <a:schemeClr val="accent4">
                  <a:lumMod val="5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/>
              <a:t>Strategic Time Horizon</a:t>
            </a:r>
            <a:endParaRPr lang="en-IN" sz="3200" b="1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9EA0ABE-EF60-A040-D908-EF13336782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36000" y="3429000"/>
            <a:ext cx="3240000" cy="1440000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marL="457200" lvl="1" indent="0"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pPr marL="457200" lvl="1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Stabilize, standardize, and establish cloud foundations</a:t>
            </a:r>
          </a:p>
          <a:p>
            <a:pPr marL="0" indent="0">
              <a:buNone/>
            </a:pPr>
            <a:endParaRPr lang="en-US" altLang="en-US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D1B053-E9B5-0DFF-E97D-A3FD4521E33B}"/>
              </a:ext>
            </a:extLst>
          </p:cNvPr>
          <p:cNvSpPr txBox="1"/>
          <p:nvPr/>
        </p:nvSpPr>
        <p:spPr>
          <a:xfrm>
            <a:off x="336000" y="1269000"/>
            <a:ext cx="10800000" cy="56270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</a:lstStyle>
          <a:p>
            <a:r>
              <a:rPr lang="en-US" dirty="0"/>
              <a:t>Transformation Time Horizon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7F45C56-225E-4543-A6C7-E456A6BAEC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6000" y="3429000"/>
            <a:ext cx="3600000" cy="1440000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indent="0"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Optimize costs, scale platforms, and modernize core systems</a:t>
            </a:r>
          </a:p>
          <a:p>
            <a:pPr marL="0" indent="0">
              <a:buNone/>
            </a:pPr>
            <a:endParaRPr lang="en-US" altLang="en-US" sz="2000" dirty="0">
              <a:solidFill>
                <a:schemeClr val="tx1"/>
              </a:solidFill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FC4B9729-05B0-C3EE-42F6-1BE8AA972D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5998" y="3421167"/>
            <a:ext cx="3639747" cy="1440000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457200" lvl="1" indent="0">
              <a:buNone/>
            </a:pPr>
            <a:endParaRPr lang="en-US" sz="2000" dirty="0"/>
          </a:p>
          <a:p>
            <a:pPr marL="457200" lvl="1" indent="0">
              <a:buNone/>
            </a:pPr>
            <a:r>
              <a:rPr lang="en-US" sz="2000" dirty="0"/>
              <a:t>Enable advanced digital capabilities and innovation</a:t>
            </a:r>
            <a:endParaRPr lang="en-US" altLang="en-US" sz="2000" dirty="0"/>
          </a:p>
          <a:p>
            <a:pPr marL="0" indent="0">
              <a:buNone/>
            </a:pPr>
            <a:endParaRPr lang="en-US" altLang="en-US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AC04A0-BCFF-50DA-06DB-CE7DEF50EDC0}"/>
              </a:ext>
            </a:extLst>
          </p:cNvPr>
          <p:cNvSpPr txBox="1"/>
          <p:nvPr/>
        </p:nvSpPr>
        <p:spPr>
          <a:xfrm>
            <a:off x="336000" y="2579832"/>
            <a:ext cx="3240000" cy="56270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  <a:lvl2pPr lvl="1" algn="ctr">
              <a:lnSpc>
                <a:spcPct val="150000"/>
              </a:lnSpc>
              <a:defRPr b="1"/>
            </a:lvl2pPr>
          </a:lstStyle>
          <a:p>
            <a:r>
              <a:rPr lang="en-US" dirty="0"/>
              <a:t>Near Term (0–12 months)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099301-432D-4B26-A4C6-E77A6D9DD628}"/>
              </a:ext>
            </a:extLst>
          </p:cNvPr>
          <p:cNvSpPr txBox="1"/>
          <p:nvPr/>
        </p:nvSpPr>
        <p:spPr>
          <a:xfrm>
            <a:off x="3936000" y="2579054"/>
            <a:ext cx="3600000" cy="56270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  <a:lvl2pPr lvl="1" algn="ctr">
              <a:lnSpc>
                <a:spcPct val="150000"/>
              </a:lnSpc>
              <a:defRPr b="1"/>
            </a:lvl2pPr>
          </a:lstStyle>
          <a:p>
            <a:pPr lvl="1"/>
            <a:r>
              <a:rPr lang="en-US" dirty="0"/>
              <a:t>Mid Term (12–24 months)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5117E6-6F36-CA43-008A-9D9E6FB0B470}"/>
              </a:ext>
            </a:extLst>
          </p:cNvPr>
          <p:cNvSpPr txBox="1"/>
          <p:nvPr/>
        </p:nvSpPr>
        <p:spPr>
          <a:xfrm>
            <a:off x="7895999" y="2572846"/>
            <a:ext cx="3639746" cy="56270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  <a:lvl2pPr lvl="1" algn="ctr">
              <a:lnSpc>
                <a:spcPct val="150000"/>
              </a:lnSpc>
              <a:defRPr b="1"/>
            </a:lvl2pPr>
          </a:lstStyle>
          <a:p>
            <a:pPr lvl="1"/>
            <a:r>
              <a:rPr lang="en-US" dirty="0"/>
              <a:t>Long Term (24+ months)</a:t>
            </a:r>
          </a:p>
        </p:txBody>
      </p:sp>
    </p:spTree>
    <p:extLst>
      <p:ext uri="{BB962C8B-B14F-4D97-AF65-F5344CB8AC3E}">
        <p14:creationId xmlns:p14="http://schemas.microsoft.com/office/powerpoint/2010/main" val="1124752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2A85D7-4269-5D98-DB3D-277E759D7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row: Chevron 6">
            <a:extLst>
              <a:ext uri="{FF2B5EF4-FFF2-40B4-BE49-F238E27FC236}">
                <a16:creationId xmlns:a16="http://schemas.microsoft.com/office/drawing/2014/main" id="{21B6D3FC-465E-D602-24A0-B048C2435038}"/>
              </a:ext>
            </a:extLst>
          </p:cNvPr>
          <p:cNvSpPr/>
          <p:nvPr/>
        </p:nvSpPr>
        <p:spPr>
          <a:xfrm>
            <a:off x="696000" y="365760"/>
            <a:ext cx="10800000" cy="701040"/>
          </a:xfrm>
          <a:prstGeom prst="chevron">
            <a:avLst/>
          </a:prstGeom>
          <a:gradFill>
            <a:gsLst>
              <a:gs pos="100000">
                <a:schemeClr val="accent4">
                  <a:lumMod val="20000"/>
                  <a:lumOff val="80000"/>
                </a:schemeClr>
              </a:gs>
              <a:gs pos="91000">
                <a:schemeClr val="accent4">
                  <a:lumMod val="50000"/>
                </a:schemeClr>
              </a:gs>
              <a:gs pos="18000">
                <a:schemeClr val="accent4">
                  <a:lumMod val="5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Strategic Constraints</a:t>
            </a:r>
            <a:endParaRPr lang="en-IN" sz="3200" b="1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3A2C6F5-6C45-A556-E77A-C1AF682E60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96000" y="2349001"/>
            <a:ext cx="10800000" cy="2519999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lvl="1"/>
            <a:endParaRPr lang="en-US" sz="1800" dirty="0">
              <a:solidFill>
                <a:schemeClr val="tx1"/>
              </a:solidFill>
            </a:endParaRPr>
          </a:p>
          <a:p>
            <a:pPr lvl="1"/>
            <a:endParaRPr lang="en-US" sz="1800" dirty="0">
              <a:solidFill>
                <a:schemeClr val="tx1"/>
              </a:solidFill>
            </a:endParaRP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Always-on manufacturing and supply chain operations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Regulatory and compliance requirements across regions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Existing ERP and legacy system dependencies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Budgetary constraints requiring phased investments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Organizational change and skills readiness</a:t>
            </a:r>
          </a:p>
          <a:p>
            <a:pPr lvl="1"/>
            <a:endParaRPr lang="en-US" sz="1800" dirty="0">
              <a:solidFill>
                <a:schemeClr val="tx1"/>
              </a:solidFill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657026-23F6-903B-27CD-D611F8DF8318}"/>
              </a:ext>
            </a:extLst>
          </p:cNvPr>
          <p:cNvSpPr txBox="1"/>
          <p:nvPr/>
        </p:nvSpPr>
        <p:spPr>
          <a:xfrm>
            <a:off x="696000" y="1629000"/>
            <a:ext cx="10800000" cy="56270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</a:lstStyle>
          <a:p>
            <a:r>
              <a:rPr lang="en-US" dirty="0"/>
              <a:t>Assumptions &amp; Constraints</a:t>
            </a:r>
          </a:p>
        </p:txBody>
      </p:sp>
    </p:spTree>
    <p:extLst>
      <p:ext uri="{BB962C8B-B14F-4D97-AF65-F5344CB8AC3E}">
        <p14:creationId xmlns:p14="http://schemas.microsoft.com/office/powerpoint/2010/main" val="38606794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FF62AA-0DCC-8B49-DF98-01B269077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row: Chevron 6">
            <a:extLst>
              <a:ext uri="{FF2B5EF4-FFF2-40B4-BE49-F238E27FC236}">
                <a16:creationId xmlns:a16="http://schemas.microsoft.com/office/drawing/2014/main" id="{3ADCFE82-0706-645C-0335-D3139861C9C1}"/>
              </a:ext>
            </a:extLst>
          </p:cNvPr>
          <p:cNvSpPr/>
          <p:nvPr/>
        </p:nvSpPr>
        <p:spPr>
          <a:xfrm>
            <a:off x="696000" y="365760"/>
            <a:ext cx="10800000" cy="701040"/>
          </a:xfrm>
          <a:prstGeom prst="chevron">
            <a:avLst/>
          </a:prstGeom>
          <a:gradFill>
            <a:gsLst>
              <a:gs pos="100000">
                <a:schemeClr val="accent4">
                  <a:lumMod val="20000"/>
                  <a:lumOff val="80000"/>
                </a:schemeClr>
              </a:gs>
              <a:gs pos="91000">
                <a:schemeClr val="accent4">
                  <a:lumMod val="50000"/>
                </a:schemeClr>
              </a:gs>
              <a:gs pos="18000">
                <a:schemeClr val="accent4">
                  <a:lumMod val="5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Strategic Principles</a:t>
            </a:r>
            <a:endParaRPr lang="en-IN" sz="3200" b="1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3F33849-1303-2E62-3066-9F332F7E9D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96000" y="2349000"/>
            <a:ext cx="10800000" cy="2520000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lvl="1"/>
            <a:endParaRPr lang="en-US" sz="1800" dirty="0">
              <a:solidFill>
                <a:schemeClr val="tx1"/>
              </a:solidFill>
            </a:endParaRPr>
          </a:p>
          <a:p>
            <a:pPr lvl="1"/>
            <a:endParaRPr lang="en-US" sz="1800" dirty="0">
              <a:solidFill>
                <a:schemeClr val="tx1"/>
              </a:solidFill>
            </a:endParaRP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Business continuity takes priority over speed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Standardization first, customization only when justified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Security and compliance embedded by design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Cost transparency and ownership for all workloads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Incremental, value-driven transformation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1BF221-C45C-D734-FB54-0C22960327A9}"/>
              </a:ext>
            </a:extLst>
          </p:cNvPr>
          <p:cNvSpPr txBox="1"/>
          <p:nvPr/>
        </p:nvSpPr>
        <p:spPr>
          <a:xfrm>
            <a:off x="696000" y="1629000"/>
            <a:ext cx="10800000" cy="56270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</a:lstStyle>
          <a:p>
            <a:r>
              <a:rPr lang="en-US" dirty="0"/>
              <a:t>Guiding Principles</a:t>
            </a:r>
          </a:p>
        </p:txBody>
      </p:sp>
    </p:spTree>
    <p:extLst>
      <p:ext uri="{BB962C8B-B14F-4D97-AF65-F5344CB8AC3E}">
        <p14:creationId xmlns:p14="http://schemas.microsoft.com/office/powerpoint/2010/main" val="33327202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A1F406-A91A-4844-7439-160DB092F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A5976-050A-8A21-C3B7-C2FDEC134A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593" y="1629001"/>
            <a:ext cx="1828704" cy="3246148"/>
          </a:xfr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lvl="1"/>
            <a:endParaRPr lang="en-US" sz="1800" dirty="0">
              <a:solidFill>
                <a:schemeClr val="tx1"/>
              </a:solidFill>
            </a:endParaRPr>
          </a:p>
          <a:p>
            <a:pPr lvl="1"/>
            <a:endParaRPr lang="en-US" sz="1800" dirty="0">
              <a:solidFill>
                <a:schemeClr val="tx1"/>
              </a:solidFill>
            </a:endParaRPr>
          </a:p>
          <a:p>
            <a:r>
              <a:rPr lang="en-US" sz="1800" dirty="0">
                <a:solidFill>
                  <a:schemeClr val="tx1"/>
                </a:solidFill>
              </a:rPr>
              <a:t>Faster response to supply chain disruptions</a:t>
            </a:r>
          </a:p>
          <a:p>
            <a:endParaRPr lang="en-US" sz="1800" dirty="0"/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ACEFB6B0-82CC-BFFA-6306-33C47D3A2A3F}"/>
              </a:ext>
            </a:extLst>
          </p:cNvPr>
          <p:cNvSpPr/>
          <p:nvPr/>
        </p:nvSpPr>
        <p:spPr>
          <a:xfrm>
            <a:off x="638593" y="388620"/>
            <a:ext cx="10857408" cy="701040"/>
          </a:xfrm>
          <a:prstGeom prst="chevron">
            <a:avLst/>
          </a:prstGeom>
          <a:gradFill>
            <a:gsLst>
              <a:gs pos="100000">
                <a:schemeClr val="accent4">
                  <a:lumMod val="20000"/>
                  <a:lumOff val="80000"/>
                </a:schemeClr>
              </a:gs>
              <a:gs pos="91000">
                <a:schemeClr val="accent4">
                  <a:lumMod val="50000"/>
                </a:schemeClr>
              </a:gs>
              <a:gs pos="18000">
                <a:schemeClr val="accent4">
                  <a:lumMod val="5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Competitive Advantage Enabled by Cloud</a:t>
            </a:r>
            <a:endParaRPr lang="en-IN" sz="3200" b="1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3C6B48C-5256-5CE7-8816-FB2F74C56CA6}"/>
              </a:ext>
            </a:extLst>
          </p:cNvPr>
          <p:cNvSpPr txBox="1">
            <a:spLocks/>
          </p:cNvSpPr>
          <p:nvPr/>
        </p:nvSpPr>
        <p:spPr>
          <a:xfrm>
            <a:off x="2827297" y="1629000"/>
            <a:ext cx="1828704" cy="3246147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Improved operational visibility across regions</a:t>
            </a: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32A4A38-15DB-F19E-7ECC-E173A28DB048}"/>
              </a:ext>
            </a:extLst>
          </p:cNvPr>
          <p:cNvSpPr txBox="1">
            <a:spLocks/>
          </p:cNvSpPr>
          <p:nvPr/>
        </p:nvSpPr>
        <p:spPr>
          <a:xfrm>
            <a:off x="5016001" y="1629000"/>
            <a:ext cx="1800000" cy="3232275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Lower unit technology cost per business line</a:t>
            </a:r>
          </a:p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4AE2A60-B568-214F-B059-A6999ED1E8E2}"/>
              </a:ext>
            </a:extLst>
          </p:cNvPr>
          <p:cNvSpPr txBox="1">
            <a:spLocks/>
          </p:cNvSpPr>
          <p:nvPr/>
        </p:nvSpPr>
        <p:spPr>
          <a:xfrm>
            <a:off x="7176000" y="1629000"/>
            <a:ext cx="2160000" cy="3232275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sz="1800" dirty="0">
                <a:solidFill>
                  <a:schemeClr val="tx1"/>
                </a:solidFill>
              </a:rPr>
              <a:t>Faster rollout of digital capabilities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E19C8D-17FC-5205-A932-92CBA4D25E13}"/>
              </a:ext>
            </a:extLst>
          </p:cNvPr>
          <p:cNvSpPr txBox="1"/>
          <p:nvPr/>
        </p:nvSpPr>
        <p:spPr>
          <a:xfrm>
            <a:off x="9696000" y="1636725"/>
            <a:ext cx="1800000" cy="3232275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sz="1900" dirty="0">
                <a:solidFill>
                  <a:schemeClr val="tx1"/>
                </a:solidFill>
              </a:rPr>
              <a:t>Improved resilience compared to legacy competitors</a:t>
            </a:r>
          </a:p>
        </p:txBody>
      </p:sp>
    </p:spTree>
    <p:extLst>
      <p:ext uri="{BB962C8B-B14F-4D97-AF65-F5344CB8AC3E}">
        <p14:creationId xmlns:p14="http://schemas.microsoft.com/office/powerpoint/2010/main" val="24251781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47F140-9560-7E71-5C56-747D09E64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11B7A-9D98-B9F6-2C3B-8540E8BB41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3549"/>
            <a:ext cx="10467109" cy="3255451"/>
          </a:xfr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endParaRPr lang="en-US" sz="2000" b="1" dirty="0">
              <a:solidFill>
                <a:schemeClr val="tx1"/>
              </a:solidFill>
            </a:endParaRPr>
          </a:p>
          <a:p>
            <a:endParaRPr lang="en-US" sz="2000" b="1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This strategy requires: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Clear value streams that connect cloud initiatives to business outcomes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Defined business and technology capabilities supporting operations and governance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A target operating model aligned to platforms and products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A phased transformation roadmap aligned to business priorities</a:t>
            </a:r>
          </a:p>
          <a:p>
            <a:endParaRPr lang="en-US" dirty="0"/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A21ED14C-55B9-8857-F855-3BE3397D57A5}"/>
              </a:ext>
            </a:extLst>
          </p:cNvPr>
          <p:cNvSpPr/>
          <p:nvPr/>
        </p:nvSpPr>
        <p:spPr>
          <a:xfrm>
            <a:off x="838200" y="388620"/>
            <a:ext cx="10546080" cy="701040"/>
          </a:xfrm>
          <a:prstGeom prst="chevron">
            <a:avLst/>
          </a:prstGeom>
          <a:gradFill>
            <a:gsLst>
              <a:gs pos="100000">
                <a:schemeClr val="accent4">
                  <a:lumMod val="20000"/>
                  <a:lumOff val="80000"/>
                </a:schemeClr>
              </a:gs>
              <a:gs pos="91000">
                <a:schemeClr val="accent4">
                  <a:lumMod val="50000"/>
                </a:schemeClr>
              </a:gs>
              <a:gs pos="18000">
                <a:schemeClr val="accent4">
                  <a:lumMod val="5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Implications for Enterprise Architecture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14786030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7312C2-A410-782B-B2FE-F48B2AA0E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5EF77-B206-D8BF-4C63-B44B8AF33D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6001" y="2693550"/>
            <a:ext cx="2159999" cy="2173244"/>
          </a:xfr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endParaRPr lang="en-US" sz="1800" dirty="0">
              <a:solidFill>
                <a:schemeClr val="tx1"/>
              </a:solidFill>
            </a:endParaRPr>
          </a:p>
          <a:p>
            <a:endParaRPr lang="en-US" sz="1800" dirty="0">
              <a:solidFill>
                <a:schemeClr val="tx1"/>
              </a:solidFill>
            </a:endParaRPr>
          </a:p>
          <a:p>
            <a:r>
              <a:rPr lang="en-US" sz="1800" dirty="0">
                <a:solidFill>
                  <a:schemeClr val="tx1"/>
                </a:solidFill>
              </a:rPr>
              <a:t>Value Stream View</a:t>
            </a: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8E82F643-5DC3-3949-4E9F-530BCE458C76}"/>
              </a:ext>
            </a:extLst>
          </p:cNvPr>
          <p:cNvSpPr/>
          <p:nvPr/>
        </p:nvSpPr>
        <p:spPr>
          <a:xfrm>
            <a:off x="1056000" y="388620"/>
            <a:ext cx="10080000" cy="701040"/>
          </a:xfrm>
          <a:prstGeom prst="chevron">
            <a:avLst/>
          </a:prstGeom>
          <a:gradFill>
            <a:gsLst>
              <a:gs pos="100000">
                <a:schemeClr val="accent4">
                  <a:lumMod val="20000"/>
                  <a:lumOff val="80000"/>
                </a:schemeClr>
              </a:gs>
              <a:gs pos="91000">
                <a:schemeClr val="accent4">
                  <a:lumMod val="50000"/>
                </a:schemeClr>
              </a:gs>
              <a:gs pos="18000">
                <a:schemeClr val="accent4">
                  <a:lumMod val="5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What Comes Next</a:t>
            </a:r>
            <a:endParaRPr lang="en-IN" sz="3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C624E1-5ACA-4A9D-B464-2FF888F1F279}"/>
              </a:ext>
            </a:extLst>
          </p:cNvPr>
          <p:cNvSpPr txBox="1"/>
          <p:nvPr/>
        </p:nvSpPr>
        <p:spPr>
          <a:xfrm>
            <a:off x="1056000" y="5229000"/>
            <a:ext cx="9360000" cy="5096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lnSpc>
                <a:spcPct val="150000"/>
              </a:lnSpc>
              <a:buNone/>
            </a:pPr>
            <a:r>
              <a:rPr lang="en-US" sz="2000" b="1" dirty="0"/>
              <a:t>Outcome: Clear traceability from strategy to execution.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0D04654-E458-8CC4-514A-8035C335D718}"/>
              </a:ext>
            </a:extLst>
          </p:cNvPr>
          <p:cNvSpPr txBox="1">
            <a:spLocks/>
          </p:cNvSpPr>
          <p:nvPr/>
        </p:nvSpPr>
        <p:spPr>
          <a:xfrm>
            <a:off x="8616000" y="2709000"/>
            <a:ext cx="2160000" cy="2160000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 lang="en-US" sz="1800" dirty="0">
              <a:solidFill>
                <a:schemeClr val="tx1"/>
              </a:solidFill>
            </a:endParaRPr>
          </a:p>
          <a:p>
            <a:endParaRPr lang="en-US" sz="1800" dirty="0">
              <a:solidFill>
                <a:schemeClr val="tx1"/>
              </a:solidFill>
            </a:endParaRPr>
          </a:p>
          <a:p>
            <a:r>
              <a:rPr lang="en-US" sz="1800" dirty="0">
                <a:solidFill>
                  <a:schemeClr val="tx1"/>
                </a:solidFill>
              </a:rPr>
              <a:t>Transformation Roadmap</a:t>
            </a:r>
          </a:p>
          <a:p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FAE4408-19E3-4C2B-78C6-F459EF6194A8}"/>
              </a:ext>
            </a:extLst>
          </p:cNvPr>
          <p:cNvSpPr txBox="1">
            <a:spLocks/>
          </p:cNvSpPr>
          <p:nvPr/>
        </p:nvSpPr>
        <p:spPr>
          <a:xfrm>
            <a:off x="3576000" y="2709000"/>
            <a:ext cx="2160000" cy="2160000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 lang="en-US" sz="1800" dirty="0">
              <a:solidFill>
                <a:schemeClr val="tx1"/>
              </a:solidFill>
            </a:endParaRPr>
          </a:p>
          <a:p>
            <a:endParaRPr lang="en-US" sz="1800" dirty="0">
              <a:solidFill>
                <a:schemeClr val="tx1"/>
              </a:solidFill>
            </a:endParaRPr>
          </a:p>
          <a:p>
            <a:r>
              <a:rPr lang="en-US" sz="1800" dirty="0">
                <a:solidFill>
                  <a:schemeClr val="tx1"/>
                </a:solidFill>
              </a:rPr>
              <a:t>Business Capability Map</a:t>
            </a:r>
          </a:p>
          <a:p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4DA6308-FFAC-6DFE-63D0-DA0F293E166B}"/>
              </a:ext>
            </a:extLst>
          </p:cNvPr>
          <p:cNvSpPr txBox="1">
            <a:spLocks/>
          </p:cNvSpPr>
          <p:nvPr/>
        </p:nvSpPr>
        <p:spPr>
          <a:xfrm>
            <a:off x="6096000" y="2709000"/>
            <a:ext cx="2160000" cy="2160000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 lang="en-US" sz="1800" dirty="0">
              <a:solidFill>
                <a:schemeClr val="tx1"/>
              </a:solidFill>
            </a:endParaRPr>
          </a:p>
          <a:p>
            <a:endParaRPr lang="en-US" sz="1800" dirty="0">
              <a:solidFill>
                <a:schemeClr val="tx1"/>
              </a:solidFill>
            </a:endParaRPr>
          </a:p>
          <a:p>
            <a:r>
              <a:rPr lang="en-US" sz="1800" dirty="0">
                <a:solidFill>
                  <a:schemeClr val="tx1"/>
                </a:solidFill>
              </a:rPr>
              <a:t>Target Operating Model</a:t>
            </a:r>
          </a:p>
          <a:p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3498A6-0816-F63B-BB77-EA84947355E4}"/>
              </a:ext>
            </a:extLst>
          </p:cNvPr>
          <p:cNvSpPr txBox="1"/>
          <p:nvPr/>
        </p:nvSpPr>
        <p:spPr>
          <a:xfrm>
            <a:off x="1056000" y="1629000"/>
            <a:ext cx="9720000" cy="56270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</a:lstStyle>
          <a:p>
            <a:r>
              <a:rPr lang="en-US" dirty="0"/>
              <a:t>Next Architecture Views</a:t>
            </a:r>
          </a:p>
        </p:txBody>
      </p:sp>
    </p:spTree>
    <p:extLst>
      <p:ext uri="{BB962C8B-B14F-4D97-AF65-F5344CB8AC3E}">
        <p14:creationId xmlns:p14="http://schemas.microsoft.com/office/powerpoint/2010/main" val="1343021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2595</TotalTime>
  <Words>554</Words>
  <Application>Microsoft Office PowerPoint</Application>
  <PresentationFormat>Widescreen</PresentationFormat>
  <Paragraphs>156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Business Strategy View Cloud Transformation at Northstar Digital Group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Sambhav Pandey</dc:creator>
  <cp:lastModifiedBy>Sambhav Pandey</cp:lastModifiedBy>
  <cp:revision>73</cp:revision>
  <dcterms:created xsi:type="dcterms:W3CDTF">2025-12-13T13:21:05Z</dcterms:created>
  <dcterms:modified xsi:type="dcterms:W3CDTF">2025-12-23T01:12:05Z</dcterms:modified>
</cp:coreProperties>
</file>