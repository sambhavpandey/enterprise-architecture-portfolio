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3" r:id="rId3"/>
    <p:sldId id="258" r:id="rId4"/>
    <p:sldId id="260" r:id="rId5"/>
    <p:sldId id="261" r:id="rId6"/>
    <p:sldId id="274" r:id="rId7"/>
    <p:sldId id="275" r:id="rId8"/>
    <p:sldId id="27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72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6B2DA-6A1F-ABED-E3A8-52586CD3F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69E8D-4E38-DC59-ACF4-A8012CA39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B27D6-E10F-E02C-2E52-7250C872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FCE1A-A6A6-5B5B-AC7B-B102B0C50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37EFC-0FFD-D271-68BE-E11541644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3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95486-8833-D29A-C376-F0C724020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54B1F-86FF-D4D7-0C24-02DDE4DB8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1CCBF-97B1-2B0D-C5B5-1B7AACCB9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5BB66-1533-BB45-EBE7-D4D59AFE5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7F07F-5244-D7EA-B857-A5DF5971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69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B2DC0-CC40-A08E-5DDB-85FBCBC8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D9F73-6EBF-D5BC-439E-006C7087F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DD9C3-872E-37A6-6966-185EBF213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BE52F-FAA2-223A-2FCE-40C47E2C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11D50-922D-1DE8-917C-A3931180D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0270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48BB-EB8F-56BB-A8DB-902650DCB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CE445-808E-D2D8-99A0-7D08D4F00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1E9938-FCC9-E000-DB18-52A44F27F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38832-6ABA-5C61-79BA-1CD251B28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9B765-49E7-9951-90C2-695B36CD6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10948-1C7E-11EB-0C82-A61723833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687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42A28-F4F4-7B70-865A-DDAFFD107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C4322-68AA-8DA9-074D-EF87FFA6F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F39CF-6304-4DF5-3245-14010E37C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DAC0AC-BB28-CA9B-D780-F23AEFECF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D08ED6-7E1A-FEB4-450F-F20EABAF6B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0D8B05-2720-B045-CA30-84BDE4DA8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BA8055-6E29-14C2-2386-99AA91796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397C69-C3DD-2D22-98DA-3D95E97E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969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C54AB-C445-CE73-BB9F-E82B08EDA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841F5E-2A58-2994-6EB0-9B4C0A2A4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9D7A3E-5EB1-F79D-A8B7-B5AA272B6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F46FC-E099-7931-76B2-E60C9A2E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652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F01050-AC9A-F640-F228-7CF292F6F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1112B4-BCB0-DE15-DD29-881EFA67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CDC9D-4ADC-F3C6-8DBD-0C5EFB50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021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5B8A8-F7CD-80C2-94AA-53CD8F616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07782-06E6-0209-2F2D-6BB093381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E535CA-C15A-A263-2673-6E21A3442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FD550-0B99-7F90-11C9-12E7D608C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826DD-3181-65CF-FC01-2EF77FDF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5CC22-76B0-132A-3B1C-21BAC2639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70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12156-046E-BA01-134F-B85028D01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1FDAAE-1C70-45F0-D2B0-CB02ABB9F3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B241F3-FF67-BF54-65AB-0D71F43BB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7BBA5-DE3E-8A9A-1404-34DD3B52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C4C49F-543B-F6F2-3326-C5850D28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A0968-C07F-344B-A540-65F4DD038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439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4BAE0-5302-73F0-9608-5F20D3455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05C13-61D4-8300-49E0-20088EB9D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06A95-952F-23C6-7455-29A6015E3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1AF31-DFD7-FF37-D543-D6B5EB0C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DE840-9D3C-FCAB-AFFE-05E1FF3AE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773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2BF280-65A7-6753-C51C-1E2C1351A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14C68-090B-AEE0-D622-C9D290BC7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C9A35-C26F-7F72-CDAC-C5235A0BA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E1653-FD56-392C-3E9F-32D3915D9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84F79-A0A4-604A-F7B7-84F8145F3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351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6B2DA-6A1F-ABED-E3A8-52586CD3F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969E8D-4E38-DC59-ACF4-A8012CA39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B27D6-E10F-E02C-2E52-7250C872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FCE1A-A6A6-5B5B-AC7B-B102B0C50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37EFC-0FFD-D271-68BE-E11541644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0264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95486-8833-D29A-C376-F0C724020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54B1F-86FF-D4D7-0C24-02DDE4DB8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1CCBF-97B1-2B0D-C5B5-1B7AACCB9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5BB66-1533-BB45-EBE7-D4D59AFE5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7F07F-5244-D7EA-B857-A5DF5971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3566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B2DC0-CC40-A08E-5DDB-85FBCBC82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D9F73-6EBF-D5BC-439E-006C7087F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DD9C3-872E-37A6-6966-185EBF213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BE52F-FAA2-223A-2FCE-40C47E2C9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11D50-922D-1DE8-917C-A3931180D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6413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E48BB-EB8F-56BB-A8DB-902650DCB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CE445-808E-D2D8-99A0-7D08D4F00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1E9938-FCC9-E000-DB18-52A44F27F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38832-6ABA-5C61-79BA-1CD251B28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9B765-49E7-9951-90C2-695B36CD6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10948-1C7E-11EB-0C82-A61723833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9723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42A28-F4F4-7B70-865A-DDAFFD107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C4322-68AA-8DA9-074D-EF87FFA6F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F39CF-6304-4DF5-3245-14010E37C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DAC0AC-BB28-CA9B-D780-F23AEFECF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D08ED6-7E1A-FEB4-450F-F20EABAF6B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0D8B05-2720-B045-CA30-84BDE4DA8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BA8055-6E29-14C2-2386-99AA91796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397C69-C3DD-2D22-98DA-3D95E97E6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0530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C54AB-C445-CE73-BB9F-E82B08EDA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841F5E-2A58-2994-6EB0-9B4C0A2A4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9D7A3E-5EB1-F79D-A8B7-B5AA272B6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CF46FC-E099-7931-76B2-E60C9A2E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7820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F01050-AC9A-F640-F228-7CF292F6F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1112B4-BCB0-DE15-DD29-881EFA67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CDC9D-4ADC-F3C6-8DBD-0C5EFB50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6223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5B8A8-F7CD-80C2-94AA-53CD8F616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07782-06E6-0209-2F2D-6BB093381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E535CA-C15A-A263-2673-6E21A3442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FD550-0B99-7F90-11C9-12E7D608C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826DD-3181-65CF-FC01-2EF77FDF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5CC22-76B0-132A-3B1C-21BAC2639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002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12156-046E-BA01-134F-B85028D01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1FDAAE-1C70-45F0-D2B0-CB02ABB9F3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B241F3-FF67-BF54-65AB-0D71F43BBA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7BBA5-DE3E-8A9A-1404-34DD3B52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C4C49F-543B-F6F2-3326-C5850D28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A0968-C07F-344B-A540-65F4DD038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7733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4BAE0-5302-73F0-9608-5F20D3455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05C13-61D4-8300-49E0-20088EB9D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06A95-952F-23C6-7455-29A6015E3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1AF31-DFD7-FF37-D543-D6B5EB0C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DE840-9D3C-FCAB-AFFE-05E1FF3AE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0199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2BF280-65A7-6753-C51C-1E2C1351A4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14C68-090B-AEE0-D622-C9D290BC7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C9A35-C26F-7F72-CDAC-C5235A0BA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E1653-FD56-392C-3E9F-32D3915D9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84F79-A0A4-604A-F7B7-84F8145F3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245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5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25333E-6900-7841-53D6-37186BC83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2D552-1BBE-AE44-521F-5C2B2A95C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90D7A-9A26-0C8B-A978-04A81B3575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654AC-AA1B-2345-F70F-15BA7C5706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71790-E29D-5C10-A185-BFC1AE17B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  <p:pic>
        <p:nvPicPr>
          <p:cNvPr id="14" name="Picture 1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1CD0A77-8F98-0C5F-B8E1-85FB3569C13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duotone>
              <a:prstClr val="black"/>
              <a:schemeClr val="accent2">
                <a:lumMod val="75000"/>
                <a:tint val="45000"/>
                <a:satMod val="400000"/>
              </a:schemeClr>
            </a:duotone>
            <a:alphaModFix amt="54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6300"/>
                    </a14:imgEffect>
                    <a14:imgEffect>
                      <a14:saturation sat="9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60" t="10101" r="7967" b="6802"/>
          <a:stretch>
            <a:fillRect/>
          </a:stretch>
        </p:blipFill>
        <p:spPr>
          <a:xfrm rot="2054607">
            <a:off x="9089867" y="5595424"/>
            <a:ext cx="2310816" cy="17599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26576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5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25333E-6900-7841-53D6-37186BC83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2D552-1BBE-AE44-521F-5C2B2A95C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90D7A-9A26-0C8B-A978-04A81B3575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77B2F6-54B1-42B0-9CB6-CAD0512A84B5}" type="datetimeFigureOut">
              <a:rPr lang="en-IN" smtClean="0"/>
              <a:t>23-12-2025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654AC-AA1B-2345-F70F-15BA7C5706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71790-E29D-5C10-A185-BFC1AE17B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5F57F0-327A-4661-8245-6D55E9A329B0}" type="slidenum">
              <a:rPr lang="en-IN" smtClean="0"/>
              <a:t>‹#›</a:t>
            </a:fld>
            <a:endParaRPr lang="en-IN"/>
          </a:p>
        </p:txBody>
      </p:sp>
      <p:pic>
        <p:nvPicPr>
          <p:cNvPr id="16" name="Picture 1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1CD0A77-8F98-0C5F-B8E1-85FB3569C13D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accent2">
                <a:lumMod val="75000"/>
                <a:tint val="45000"/>
                <a:satMod val="400000"/>
              </a:schemeClr>
            </a:duotone>
            <a:alphaModFix amt="54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6300"/>
                    </a14:imgEffect>
                    <a14:imgEffect>
                      <a14:saturation sat="9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60" t="10101" r="7967" b="6802"/>
          <a:stretch>
            <a:fillRect/>
          </a:stretch>
        </p:blipFill>
        <p:spPr>
          <a:xfrm rot="2054607">
            <a:off x="9790131" y="5651466"/>
            <a:ext cx="2019249" cy="1537847"/>
          </a:xfrm>
          <a:prstGeom prst="rect">
            <a:avLst/>
          </a:prstGeom>
          <a:noFill/>
        </p:spPr>
      </p:pic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BC32C51-03A6-8082-E5F5-C47175F11E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duotone>
              <a:prstClr val="black"/>
              <a:schemeClr val="accent2">
                <a:lumMod val="75000"/>
                <a:tint val="45000"/>
                <a:satMod val="400000"/>
              </a:schemeClr>
            </a:duotone>
            <a:alphaModFix amt="54000"/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6300"/>
                    </a14:imgEffect>
                    <a14:imgEffect>
                      <a14:saturation sat="9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60" t="10101" r="7967" b="6802"/>
          <a:stretch>
            <a:fillRect/>
          </a:stretch>
        </p:blipFill>
        <p:spPr>
          <a:xfrm rot="2054607">
            <a:off x="9089867" y="5595424"/>
            <a:ext cx="2310816" cy="17599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51594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0F7C6281-546D-97BA-2D5C-54F7958656A1}"/>
              </a:ext>
            </a:extLst>
          </p:cNvPr>
          <p:cNvSpPr/>
          <p:nvPr/>
        </p:nvSpPr>
        <p:spPr>
          <a:xfrm>
            <a:off x="3216000" y="189000"/>
            <a:ext cx="6256020" cy="5974080"/>
          </a:xfrm>
          <a:prstGeom prst="flowChartConnector">
            <a:avLst/>
          </a:prstGeom>
          <a:gradFill flip="none" rotWithShape="1">
            <a:gsLst>
              <a:gs pos="100000">
                <a:schemeClr val="accent2">
                  <a:lumMod val="20000"/>
                  <a:lumOff val="80000"/>
                </a:schemeClr>
              </a:gs>
              <a:gs pos="0">
                <a:schemeClr val="accent2">
                  <a:lumMod val="20000"/>
                  <a:lumOff val="80000"/>
                </a:schemeClr>
              </a:gs>
              <a:gs pos="500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95000">
                <a:schemeClr val="accent1">
                  <a:shade val="100000"/>
                  <a:satMod val="115000"/>
                </a:schemeClr>
              </a:gs>
            </a:gsLst>
            <a:lin ang="5400000" scaled="0"/>
            <a:tileRect/>
          </a:gradFill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0000" endA="295" endPos="92000" dist="1016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A33D1-3B2C-FAB2-F576-0287340A1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4700" y="1129004"/>
            <a:ext cx="6021300" cy="3267736"/>
          </a:xfr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IN" sz="4800" dirty="0">
                <a:solidFill>
                  <a:schemeClr val="bg1"/>
                </a:solidFill>
              </a:rPr>
              <a:t>Execution Architecture Overview</a:t>
            </a:r>
            <a:br>
              <a:rPr lang="en-IN" sz="4800" dirty="0">
                <a:solidFill>
                  <a:schemeClr val="bg1"/>
                </a:solidFill>
              </a:rPr>
            </a:br>
            <a:r>
              <a:rPr kumimoji="0" lang="en-IN" sz="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Cloud Transformation at Northstar Digital Group</a:t>
            </a:r>
            <a:br>
              <a:rPr lang="en-IN" sz="4800" dirty="0">
                <a:solidFill>
                  <a:schemeClr val="bg1"/>
                </a:solidFill>
              </a:rPr>
            </a:b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E7542A-60C5-B98A-FDE5-A8B123414E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8670" y="4419600"/>
            <a:ext cx="3611882" cy="579120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Translating business architecture into executable initiatives</a:t>
            </a:r>
            <a:endParaRPr lang="en-IN" sz="3200" dirty="0">
              <a:solidFill>
                <a:schemeClr val="bg1"/>
              </a:solidFill>
            </a:endParaRP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B9BB8CB7-1FAC-ECE1-C3C2-F5D463821095}"/>
              </a:ext>
            </a:extLst>
          </p:cNvPr>
          <p:cNvCxnSpPr>
            <a:cxnSpLocks/>
          </p:cNvCxnSpPr>
          <p:nvPr/>
        </p:nvCxnSpPr>
        <p:spPr>
          <a:xfrm>
            <a:off x="1615440" y="64008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426A66B6-2B87-7C01-5A92-985D13022792}"/>
              </a:ext>
            </a:extLst>
          </p:cNvPr>
          <p:cNvCxnSpPr>
            <a:cxnSpLocks/>
          </p:cNvCxnSpPr>
          <p:nvPr/>
        </p:nvCxnSpPr>
        <p:spPr>
          <a:xfrm>
            <a:off x="1013460" y="94488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82E8CD61-D9EA-3353-2BAA-5756E0FF6029}"/>
              </a:ext>
            </a:extLst>
          </p:cNvPr>
          <p:cNvCxnSpPr>
            <a:cxnSpLocks/>
          </p:cNvCxnSpPr>
          <p:nvPr/>
        </p:nvCxnSpPr>
        <p:spPr>
          <a:xfrm>
            <a:off x="556260" y="124968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33036F7E-FE50-67C1-146A-E79F40AF220C}"/>
              </a:ext>
            </a:extLst>
          </p:cNvPr>
          <p:cNvCxnSpPr>
            <a:cxnSpLocks/>
          </p:cNvCxnSpPr>
          <p:nvPr/>
        </p:nvCxnSpPr>
        <p:spPr>
          <a:xfrm>
            <a:off x="10477500" y="423672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45B97D4F-1F4B-C1A8-1553-4202AE75C63D}"/>
              </a:ext>
            </a:extLst>
          </p:cNvPr>
          <p:cNvCxnSpPr>
            <a:cxnSpLocks/>
          </p:cNvCxnSpPr>
          <p:nvPr/>
        </p:nvCxnSpPr>
        <p:spPr>
          <a:xfrm>
            <a:off x="9875520" y="454152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9C95EB2F-0858-99F9-F412-3A249DAD45E1}"/>
              </a:ext>
            </a:extLst>
          </p:cNvPr>
          <p:cNvCxnSpPr>
            <a:cxnSpLocks/>
          </p:cNvCxnSpPr>
          <p:nvPr/>
        </p:nvCxnSpPr>
        <p:spPr>
          <a:xfrm>
            <a:off x="9418320" y="4846320"/>
            <a:ext cx="914400" cy="914400"/>
          </a:xfrm>
          <a:prstGeom prst="curvedConnector3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9B1806E6-45DB-39EE-42D7-523A6FEB1BEF}"/>
              </a:ext>
            </a:extLst>
          </p:cNvPr>
          <p:cNvCxnSpPr>
            <a:cxnSpLocks/>
          </p:cNvCxnSpPr>
          <p:nvPr/>
        </p:nvCxnSpPr>
        <p:spPr>
          <a:xfrm>
            <a:off x="3067050" y="3665220"/>
            <a:ext cx="914400" cy="914400"/>
          </a:xfrm>
          <a:prstGeom prst="curvedConnector3">
            <a:avLst>
              <a:gd name="adj1" fmla="val -75001"/>
            </a:avLst>
          </a:prstGeom>
          <a:ln w="228600">
            <a:solidFill>
              <a:schemeClr val="accent2">
                <a:lumMod val="75000"/>
              </a:schemeClr>
            </a:solidFill>
            <a:tailEnd type="triangle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>
            <a:extLst>
              <a:ext uri="{FF2B5EF4-FFF2-40B4-BE49-F238E27FC236}">
                <a16:creationId xmlns:a16="http://schemas.microsoft.com/office/drawing/2014/main" id="{5DE5B677-5C86-4C22-0771-91FA85E71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2">
                <a:lumMod val="75000"/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0740" y="117919"/>
            <a:ext cx="1661160" cy="1666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F82C92-844C-5AEA-478A-3EA6BEF7DC8C}"/>
              </a:ext>
            </a:extLst>
          </p:cNvPr>
          <p:cNvSpPr txBox="1"/>
          <p:nvPr/>
        </p:nvSpPr>
        <p:spPr>
          <a:xfrm>
            <a:off x="0" y="6334780"/>
            <a:ext cx="120559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Disclaimer: Fictional Enterprise Case Study for Portfolio Demonstration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649347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0D393-4269-A465-24DD-FA12087C3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852" y="1629000"/>
            <a:ext cx="10992148" cy="360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Bridge business architecture and delivery execution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Show how value streams and capabilities translate into initiatives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Clarify ownership, sequencing, and dependencies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Provide execution clarity without tool-level detail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4CF3204B-E949-CC10-360B-13505F53D56D}"/>
              </a:ext>
            </a:extLst>
          </p:cNvPr>
          <p:cNvSpPr/>
          <p:nvPr/>
        </p:nvSpPr>
        <p:spPr>
          <a:xfrm>
            <a:off x="503852" y="434340"/>
            <a:ext cx="10992148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Purpose of This View</a:t>
            </a:r>
          </a:p>
        </p:txBody>
      </p:sp>
    </p:spTree>
    <p:extLst>
      <p:ext uri="{BB962C8B-B14F-4D97-AF65-F5344CB8AC3E}">
        <p14:creationId xmlns:p14="http://schemas.microsoft.com/office/powerpoint/2010/main" val="2132799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A3EB68-1BC5-9C95-F82A-44A373BB7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3B7D2-ECC7-1DEB-C776-7ED3C7A87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1989000"/>
            <a:ext cx="10799999" cy="3239999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2000" b="1" dirty="0">
                <a:solidFill>
                  <a:schemeClr val="tx1"/>
                </a:solidFill>
              </a:rPr>
              <a:t>Business Strategy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Value Streams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Business Capabilities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Execution Initiatives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solidFill>
                  <a:schemeClr val="tx1"/>
                </a:solidFill>
              </a:rPr>
              <a:t>Delivered Outcomes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BD6D2B14-E322-9762-7DD6-5896F1480A70}"/>
              </a:ext>
            </a:extLst>
          </p:cNvPr>
          <p:cNvSpPr/>
          <p:nvPr/>
        </p:nvSpPr>
        <p:spPr>
          <a:xfrm>
            <a:off x="525780" y="388620"/>
            <a:ext cx="10995971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From Strategy to Execution (Conceptual Flow)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A007F9-AF96-E212-5622-C322F8188368}"/>
              </a:ext>
            </a:extLst>
          </p:cNvPr>
          <p:cNvSpPr txBox="1"/>
          <p:nvPr/>
        </p:nvSpPr>
        <p:spPr>
          <a:xfrm>
            <a:off x="696000" y="1269000"/>
            <a:ext cx="1080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Execution 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8A021C-7B6B-B9EC-345C-428829593FC8}"/>
              </a:ext>
            </a:extLst>
          </p:cNvPr>
          <p:cNvSpPr txBox="1"/>
          <p:nvPr/>
        </p:nvSpPr>
        <p:spPr>
          <a:xfrm>
            <a:off x="695999" y="5589000"/>
            <a:ext cx="10799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Key Principle: </a:t>
            </a:r>
            <a:r>
              <a:rPr lang="en-US" sz="2000" dirty="0"/>
              <a:t>Execution initiatives are designed to enable capabilities, not just deliver projects.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944580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BAE8FF-6368-223A-594A-F2984F397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7372D-3AA3-FDE4-AFAB-3519E5752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2349000"/>
            <a:ext cx="4680000" cy="288000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lvl="1"/>
            <a:endParaRPr lang="en-US" sz="1800" dirty="0">
              <a:solidFill>
                <a:schemeClr val="tx1"/>
              </a:solidFill>
            </a:endParaRPr>
          </a:p>
          <a:p>
            <a:pPr marL="457200" lvl="1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Enterprise-wide cloud enablement initiatives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Platform, governance, and operating model execution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Cross-domain execution dependencies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870303DF-4D7C-6BF1-5B4F-682419A8B1D4}"/>
              </a:ext>
            </a:extLst>
          </p:cNvPr>
          <p:cNvSpPr/>
          <p:nvPr/>
        </p:nvSpPr>
        <p:spPr>
          <a:xfrm>
            <a:off x="696000" y="388620"/>
            <a:ext cx="1044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Execution Scope &amp; Assumptions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DE0310-ADDC-51E6-FD51-EC35A351C02C}"/>
              </a:ext>
            </a:extLst>
          </p:cNvPr>
          <p:cNvSpPr txBox="1"/>
          <p:nvPr/>
        </p:nvSpPr>
        <p:spPr>
          <a:xfrm>
            <a:off x="696000" y="1629000"/>
            <a:ext cx="468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IN"/>
              <a:t>In Scope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3B0EADF-D7B6-3F7B-3997-BE96D1CC0490}"/>
              </a:ext>
            </a:extLst>
          </p:cNvPr>
          <p:cNvSpPr txBox="1">
            <a:spLocks/>
          </p:cNvSpPr>
          <p:nvPr/>
        </p:nvSpPr>
        <p:spPr>
          <a:xfrm>
            <a:off x="6096000" y="2349000"/>
            <a:ext cx="4680000" cy="288000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Tool configuration details</a:t>
            </a:r>
          </a:p>
          <a:p>
            <a:pPr lvl="1"/>
            <a:r>
              <a:rPr lang="en-US" dirty="0"/>
              <a:t>Application-level design</a:t>
            </a:r>
          </a:p>
          <a:p>
            <a:pPr lvl="1"/>
            <a:r>
              <a:rPr lang="en-US" dirty="0"/>
              <a:t>Vendor-specific implementations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70A25A-40EA-6855-DE4D-74C22E847BF0}"/>
              </a:ext>
            </a:extLst>
          </p:cNvPr>
          <p:cNvSpPr txBox="1"/>
          <p:nvPr/>
        </p:nvSpPr>
        <p:spPr>
          <a:xfrm>
            <a:off x="6096000" y="1629000"/>
            <a:ext cx="468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IN" dirty="0"/>
              <a:t>Out of Scope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181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146B64-8397-3E83-4DC2-8300F1437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C1134-5ECF-8DFC-61AE-4E8AC79DF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403" y="1950788"/>
            <a:ext cx="1800000" cy="701040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Autofit/>
          </a:bodyPr>
          <a:lstStyle/>
          <a:p>
            <a:pPr marL="457200" lvl="1" indent="0">
              <a:buNone/>
            </a:pPr>
            <a:r>
              <a:rPr lang="en-IN" sz="1600" dirty="0">
                <a:solidFill>
                  <a:schemeClr val="tx1"/>
                </a:solidFill>
              </a:rPr>
              <a:t>Platform Enablement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ABD56883-55A8-6605-56F8-29D349B704ED}"/>
              </a:ext>
            </a:extLst>
          </p:cNvPr>
          <p:cNvSpPr/>
          <p:nvPr/>
        </p:nvSpPr>
        <p:spPr>
          <a:xfrm>
            <a:off x="696000" y="388620"/>
            <a:ext cx="10440000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/>
              <a:t>Execution Domains &amp; Ownership Model</a:t>
            </a:r>
            <a:endParaRPr lang="en-IN" sz="2800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6435079-68F7-0CC9-974C-BA06798AC93B}"/>
              </a:ext>
            </a:extLst>
          </p:cNvPr>
          <p:cNvSpPr txBox="1">
            <a:spLocks/>
          </p:cNvSpPr>
          <p:nvPr/>
        </p:nvSpPr>
        <p:spPr>
          <a:xfrm>
            <a:off x="5004723" y="1964974"/>
            <a:ext cx="1822552" cy="686917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457200" lvl="1" indent="0">
              <a:buNone/>
            </a:pPr>
            <a:r>
              <a:rPr lang="en-IN" sz="1600" dirty="0"/>
              <a:t>Operations &amp; Optimization</a:t>
            </a:r>
            <a:endParaRPr lang="en-US" sz="16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B19C761-2F24-2684-D498-72349CC48CAE}"/>
              </a:ext>
            </a:extLst>
          </p:cNvPr>
          <p:cNvSpPr txBox="1">
            <a:spLocks/>
          </p:cNvSpPr>
          <p:nvPr/>
        </p:nvSpPr>
        <p:spPr>
          <a:xfrm>
            <a:off x="2841063" y="1946341"/>
            <a:ext cx="1800000" cy="701040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457200" lvl="1" indent="0">
              <a:buNone/>
            </a:pPr>
            <a:r>
              <a:rPr lang="en-IN" sz="1600" dirty="0"/>
              <a:t>Delivery Enablement</a:t>
            </a:r>
            <a:endParaRPr lang="en-US" sz="160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24A6EED-1E65-8F28-FA1C-F15452E8964B}"/>
              </a:ext>
            </a:extLst>
          </p:cNvPr>
          <p:cNvSpPr txBox="1">
            <a:spLocks/>
          </p:cNvSpPr>
          <p:nvPr/>
        </p:nvSpPr>
        <p:spPr>
          <a:xfrm>
            <a:off x="8988366" y="1986318"/>
            <a:ext cx="1800001" cy="686917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457200" lvl="1" indent="0">
              <a:buNone/>
            </a:pPr>
            <a:r>
              <a:rPr lang="en-IN" sz="1600" dirty="0"/>
              <a:t>Financial Governance</a:t>
            </a:r>
            <a:endParaRPr lang="en-US" sz="16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6A8BE9F-AD71-5E06-752D-C522DAAF76C9}"/>
              </a:ext>
            </a:extLst>
          </p:cNvPr>
          <p:cNvSpPr txBox="1">
            <a:spLocks/>
          </p:cNvSpPr>
          <p:nvPr/>
        </p:nvSpPr>
        <p:spPr>
          <a:xfrm>
            <a:off x="7033474" y="1990038"/>
            <a:ext cx="1800000" cy="686917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457200" lvl="1" indent="0">
              <a:buNone/>
            </a:pPr>
            <a:r>
              <a:rPr lang="en-IN" sz="1600" dirty="0"/>
              <a:t>Security &amp; Compliance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7243B6-683B-C346-20D5-7460FBF75436}"/>
              </a:ext>
            </a:extLst>
          </p:cNvPr>
          <p:cNvSpPr txBox="1"/>
          <p:nvPr/>
        </p:nvSpPr>
        <p:spPr>
          <a:xfrm>
            <a:off x="696000" y="2736212"/>
            <a:ext cx="720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Each domain aligns to one or more business capability areas.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93B262E-6DBE-79FC-6FA4-F5F0FFD6D825}"/>
              </a:ext>
            </a:extLst>
          </p:cNvPr>
          <p:cNvSpPr txBox="1">
            <a:spLocks/>
          </p:cNvSpPr>
          <p:nvPr/>
        </p:nvSpPr>
        <p:spPr>
          <a:xfrm>
            <a:off x="696000" y="3759774"/>
            <a:ext cx="10079999" cy="1602215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lvl="1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Central platform teams execute shared enablement initiatives</a:t>
            </a:r>
          </a:p>
          <a:p>
            <a:r>
              <a:rPr lang="en-US" sz="1800" dirty="0">
                <a:solidFill>
                  <a:schemeClr val="tx1"/>
                </a:solidFill>
              </a:rPr>
              <a:t>Product and workload teams execute domain-specific initiatives</a:t>
            </a:r>
          </a:p>
          <a:p>
            <a:r>
              <a:rPr lang="en-US" sz="1800" dirty="0">
                <a:solidFill>
                  <a:schemeClr val="tx1"/>
                </a:solidFill>
              </a:rPr>
              <a:t>Security and finance functions provide embedded oversight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3CB8B4-A626-B66B-9685-A0AA46E2D806}"/>
              </a:ext>
            </a:extLst>
          </p:cNvPr>
          <p:cNvSpPr txBox="1"/>
          <p:nvPr/>
        </p:nvSpPr>
        <p:spPr>
          <a:xfrm>
            <a:off x="677403" y="3168521"/>
            <a:ext cx="10080000" cy="520958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Execution Ownership Model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0C9D3C-F325-48ED-05F6-FF06863F6121}"/>
              </a:ext>
            </a:extLst>
          </p:cNvPr>
          <p:cNvSpPr txBox="1"/>
          <p:nvPr/>
        </p:nvSpPr>
        <p:spPr>
          <a:xfrm>
            <a:off x="696000" y="1256639"/>
            <a:ext cx="10080001" cy="520958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US" dirty="0"/>
              <a:t>Execution Domains</a:t>
            </a:r>
          </a:p>
        </p:txBody>
      </p:sp>
    </p:spTree>
    <p:extLst>
      <p:ext uri="{BB962C8B-B14F-4D97-AF65-F5344CB8AC3E}">
        <p14:creationId xmlns:p14="http://schemas.microsoft.com/office/powerpoint/2010/main" val="2889263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6CDEBD-F44C-3494-8B64-61B06C442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65C7B-7436-596B-5AEA-76BFFC61C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1989000"/>
            <a:ext cx="4679999" cy="3239999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endParaRPr lang="en-US" sz="1800" dirty="0">
              <a:solidFill>
                <a:schemeClr val="tx1"/>
              </a:solidFill>
            </a:endParaRP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Platform and governance initiatives precede large-scale workload onboarding</a:t>
            </a:r>
          </a:p>
          <a:p>
            <a:r>
              <a:rPr lang="en-US" sz="1800" dirty="0">
                <a:solidFill>
                  <a:schemeClr val="tx1"/>
                </a:solidFill>
              </a:rPr>
              <a:t>Delivery enablement and automation scale in parallel</a:t>
            </a:r>
          </a:p>
          <a:p>
            <a:r>
              <a:rPr lang="en-US" sz="1800" dirty="0">
                <a:solidFill>
                  <a:schemeClr val="tx1"/>
                </a:solidFill>
              </a:rPr>
              <a:t>Optimization initiatives follow stabilization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8622FE78-24C3-8F74-0F30-B5E3764EC146}"/>
              </a:ext>
            </a:extLst>
          </p:cNvPr>
          <p:cNvSpPr/>
          <p:nvPr/>
        </p:nvSpPr>
        <p:spPr>
          <a:xfrm>
            <a:off x="525780" y="388620"/>
            <a:ext cx="10995971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Dependency &amp; Sequencing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350AB7-60E9-4D98-B34C-067A796DF504}"/>
              </a:ext>
            </a:extLst>
          </p:cNvPr>
          <p:cNvSpPr txBox="1"/>
          <p:nvPr/>
        </p:nvSpPr>
        <p:spPr>
          <a:xfrm>
            <a:off x="695999" y="1269000"/>
            <a:ext cx="4679999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IN"/>
              <a:t>Execution Sequencing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A5C7A7-1068-D10B-AA13-246646A6289C}"/>
              </a:ext>
            </a:extLst>
          </p:cNvPr>
          <p:cNvSpPr txBox="1"/>
          <p:nvPr/>
        </p:nvSpPr>
        <p:spPr>
          <a:xfrm>
            <a:off x="696000" y="5951486"/>
            <a:ext cx="9360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Principle: </a:t>
            </a:r>
            <a:r>
              <a:rPr lang="en-US" dirty="0"/>
              <a:t>Execution initiatives are designed to enable capabilities, not just deliver projects.</a:t>
            </a:r>
            <a:endParaRPr lang="en-IN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531FFEF-8931-5E63-7736-F40F2A657BF7}"/>
              </a:ext>
            </a:extLst>
          </p:cNvPr>
          <p:cNvSpPr txBox="1">
            <a:spLocks/>
          </p:cNvSpPr>
          <p:nvPr/>
        </p:nvSpPr>
        <p:spPr>
          <a:xfrm>
            <a:off x="6456000" y="2068894"/>
            <a:ext cx="4680001" cy="3239999"/>
          </a:xfrm>
          <a:prstGeom prst="rect">
            <a:avLst/>
          </a:prstGeo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Phased rollout</a:t>
            </a:r>
          </a:p>
          <a:p>
            <a:r>
              <a:rPr lang="en-US" dirty="0"/>
              <a:t>Clear entry and exit criteria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46F4D3-1AF0-FCFB-B088-7C7F280EF6A9}"/>
              </a:ext>
            </a:extLst>
          </p:cNvPr>
          <p:cNvSpPr txBox="1"/>
          <p:nvPr/>
        </p:nvSpPr>
        <p:spPr>
          <a:xfrm>
            <a:off x="6456000" y="1269000"/>
            <a:ext cx="4680001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IN" dirty="0"/>
              <a:t>Risk </a:t>
            </a:r>
            <a:r>
              <a:rPr lang="en-IN"/>
              <a:t>Managed Through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374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4000">
              <a:schemeClr val="accent2">
                <a:lumMod val="60000"/>
                <a:lumOff val="40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F367E6-A484-7F27-2CC8-792A99E0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91C66-2CCA-2931-5F5A-4C1767ABA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00" y="1989000"/>
            <a:ext cx="10799999" cy="3239999"/>
          </a:xfrm>
          <a:gradFill>
            <a:gsLst>
              <a:gs pos="6000">
                <a:schemeClr val="accent1">
                  <a:lumMod val="20000"/>
                  <a:lumOff val="80000"/>
                </a:schemeClr>
              </a:gs>
              <a:gs pos="96000">
                <a:schemeClr val="accent1">
                  <a:lumMod val="20000"/>
                  <a:lumOff val="80000"/>
                </a:schemeClr>
              </a:gs>
              <a:gs pos="0">
                <a:schemeClr val="accent4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</a:gsLst>
            <a:lin ang="5400000" scaled="1"/>
          </a:gradFill>
          <a:effectLst>
            <a:innerShdw blurRad="63500" dist="50800" dir="13500000">
              <a:prstClr val="black">
                <a:alpha val="50000"/>
              </a:prstClr>
            </a:innerShdw>
            <a:reflection blurRad="6350" stA="50000" endA="300" endPos="6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/>
          <a:p>
            <a:endParaRPr lang="en-US" sz="1800" dirty="0">
              <a:solidFill>
                <a:schemeClr val="tx1"/>
              </a:solidFill>
            </a:endParaRPr>
          </a:p>
          <a:p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dirty="0">
                <a:solidFill>
                  <a:schemeClr val="tx1"/>
                </a:solidFill>
              </a:rPr>
              <a:t>Business Strategy View</a:t>
            </a:r>
          </a:p>
          <a:p>
            <a:r>
              <a:rPr lang="en-US" sz="1800" dirty="0">
                <a:solidFill>
                  <a:schemeClr val="tx1"/>
                </a:solidFill>
              </a:rPr>
              <a:t>Value Stream View</a:t>
            </a:r>
          </a:p>
          <a:p>
            <a:r>
              <a:rPr lang="en-US" sz="1800" dirty="0">
                <a:solidFill>
                  <a:schemeClr val="tx1"/>
                </a:solidFill>
              </a:rPr>
              <a:t>Business Capability Map</a:t>
            </a:r>
          </a:p>
          <a:p>
            <a:r>
              <a:rPr lang="en-US" sz="1800" dirty="0">
                <a:solidFill>
                  <a:schemeClr val="tx1"/>
                </a:solidFill>
              </a:rPr>
              <a:t>Target Operating Model</a:t>
            </a:r>
          </a:p>
          <a:p>
            <a:r>
              <a:rPr lang="en-US" sz="1800" dirty="0">
                <a:solidFill>
                  <a:schemeClr val="tx1"/>
                </a:solidFill>
              </a:rPr>
              <a:t>Transformation Roadmap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CEC7370E-42C5-CDA4-501A-5ECD0510D5B6}"/>
              </a:ext>
            </a:extLst>
          </p:cNvPr>
          <p:cNvSpPr/>
          <p:nvPr/>
        </p:nvSpPr>
        <p:spPr>
          <a:xfrm>
            <a:off x="525780" y="388620"/>
            <a:ext cx="10995971" cy="701040"/>
          </a:xfrm>
          <a:prstGeom prst="chevron">
            <a:avLst/>
          </a:prstGeom>
          <a:gradFill>
            <a:gsLst>
              <a:gs pos="100000">
                <a:schemeClr val="accent4">
                  <a:lumMod val="20000"/>
                  <a:lumOff val="80000"/>
                </a:schemeClr>
              </a:gs>
              <a:gs pos="91000">
                <a:schemeClr val="accent4">
                  <a:lumMod val="50000"/>
                </a:schemeClr>
              </a:gs>
              <a:gs pos="18000">
                <a:schemeClr val="accent4">
                  <a:lumMod val="50000"/>
                </a:schemeClr>
              </a:gs>
              <a:gs pos="0">
                <a:schemeClr val="accent1">
                  <a:lumMod val="45000"/>
                  <a:lumOff val="5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Relationship to Other Artefacts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343335-41D0-C43F-67F2-76222A5FC76A}"/>
              </a:ext>
            </a:extLst>
          </p:cNvPr>
          <p:cNvSpPr txBox="1"/>
          <p:nvPr/>
        </p:nvSpPr>
        <p:spPr>
          <a:xfrm>
            <a:off x="696000" y="1269000"/>
            <a:ext cx="10800000" cy="562700"/>
          </a:xfrm>
          <a:prstGeom prst="rect">
            <a:avLst/>
          </a:prstGeom>
          <a:gradFill>
            <a:gsLst>
              <a:gs pos="0">
                <a:srgbClr val="002060"/>
              </a:gs>
              <a:gs pos="28000">
                <a:schemeClr val="accent6">
                  <a:lumMod val="20000"/>
                  <a:lumOff val="80000"/>
                </a:schemeClr>
              </a:gs>
              <a:gs pos="75000">
                <a:srgbClr val="00B0F0"/>
              </a:gs>
              <a:gs pos="100000">
                <a:srgbClr val="002060"/>
              </a:gs>
            </a:gsLst>
            <a:lin ang="5400000" scaled="1"/>
          </a:gradFill>
        </p:spPr>
        <p:txBody>
          <a:bodyPr wrap="square" tIns="0" bIns="144000" anchor="t" anchorCtr="0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2000" b="1"/>
            </a:lvl1pPr>
          </a:lstStyle>
          <a:p>
            <a:r>
              <a:rPr lang="en-IN" dirty="0"/>
              <a:t>This </a:t>
            </a:r>
            <a:r>
              <a:rPr lang="en-IN"/>
              <a:t>View Connects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35C890-2642-03A3-AB79-6D57DE703608}"/>
              </a:ext>
            </a:extLst>
          </p:cNvPr>
          <p:cNvSpPr txBox="1"/>
          <p:nvPr/>
        </p:nvSpPr>
        <p:spPr>
          <a:xfrm>
            <a:off x="696000" y="5951486"/>
            <a:ext cx="93600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Result: </a:t>
            </a:r>
            <a:r>
              <a:rPr lang="en-IN" sz="1600" dirty="0"/>
              <a:t>Strategy is demonstrably executable.</a:t>
            </a:r>
            <a:r>
              <a:rPr lang="en-US" sz="1600" dirty="0"/>
              <a:t>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5116409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2115</TotalTime>
  <Words>259</Words>
  <Application>Microsoft Office PowerPoint</Application>
  <PresentationFormat>Widescreen</PresentationFormat>
  <Paragraphs>68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1_Office Theme</vt:lpstr>
      <vt:lpstr>Execution Architecture Overview Cloud Transformation at Northstar Digital Group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Sambhav Pandey</dc:creator>
  <cp:lastModifiedBy>Sambhav Pandey</cp:lastModifiedBy>
  <cp:revision>72</cp:revision>
  <dcterms:created xsi:type="dcterms:W3CDTF">2025-12-13T13:21:05Z</dcterms:created>
  <dcterms:modified xsi:type="dcterms:W3CDTF">2025-12-23T02:32:02Z</dcterms:modified>
</cp:coreProperties>
</file>