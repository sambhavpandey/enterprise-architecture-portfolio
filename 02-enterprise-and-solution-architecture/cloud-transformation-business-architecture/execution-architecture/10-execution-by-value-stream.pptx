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3" r:id="rId3"/>
    <p:sldId id="261" r:id="rId4"/>
    <p:sldId id="277" r:id="rId5"/>
    <p:sldId id="278" r:id="rId6"/>
    <p:sldId id="279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B2DA-6A1F-ABED-E3A8-52586CD3F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69E8D-4E38-DC59-ACF4-A8012CA39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27D6-E10F-E02C-2E52-7250C872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FCE1A-A6A6-5B5B-AC7B-B102B0C5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37EFC-0FFD-D271-68BE-E1154164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5486-8833-D29A-C376-F0C72402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4B1F-86FF-D4D7-0C24-02DDE4DB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CCBF-97B1-2B0D-C5B5-1B7AACC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BB66-1533-BB45-EBE7-D4D59AFE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F07F-5244-D7EA-B857-A5DF5971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69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2DC0-CC40-A08E-5DDB-85FBCBC8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D9F73-6EBF-D5BC-439E-006C7087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D9C3-872E-37A6-6966-185EBF21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BE52F-FAA2-223A-2FCE-40C47E2C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11D50-922D-1DE8-917C-A3931180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27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48BB-EB8F-56BB-A8DB-902650DC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E445-808E-D2D8-99A0-7D08D4F00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E9938-FCC9-E000-DB18-52A44F27F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38832-6ABA-5C61-79BA-1CD251B2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9B765-49E7-9951-90C2-695B36CD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0948-1C7E-11EB-0C82-A6172383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8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2A28-F4F4-7B70-865A-DDAFFD10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C4322-68AA-8DA9-074D-EF87FFA6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F39CF-6304-4DF5-3245-14010E37C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AC0AC-BB28-CA9B-D780-F23AEFECF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08ED6-7E1A-FEB4-450F-F20EABAF6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D8B05-2720-B045-CA30-84BDE4DA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A8055-6E29-14C2-2386-99AA9179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97C69-C3DD-2D22-98DA-3D95E97E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6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54AB-C445-CE73-BB9F-E82B08ED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41F5E-2A58-2994-6EB0-9B4C0A2A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D7A3E-5EB1-F79D-A8B7-B5AA272B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F46FC-E099-7931-76B2-E60C9A2E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652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01050-AC9A-F640-F228-7CF292F6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112B4-BCB0-DE15-DD29-881EFA67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DC9D-4ADC-F3C6-8DBD-0C5EFB50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02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B8A8-F7CD-80C2-94AA-53CD8F61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7782-06E6-0209-2F2D-6BB09338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535CA-C15A-A263-2673-6E21A3442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FD550-0B99-7F90-11C9-12E7D608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826DD-3181-65CF-FC01-2EF77FDF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5CC22-76B0-132A-3B1C-21BAC263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7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2156-046E-BA01-134F-B85028D0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FDAAE-1C70-45F0-D2B0-CB02ABB9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241F3-FF67-BF54-65AB-0D71F43BB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7BBA5-DE3E-8A9A-1404-34DD3B52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4C49F-543B-F6F2-3326-C5850D28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A0968-C07F-344B-A540-65F4DD03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3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BAE0-5302-73F0-9608-5F20D3455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05C13-61D4-8300-49E0-20088EB9D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6A95-952F-23C6-7455-29A6015E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1AF31-DFD7-FF37-D543-D6B5EB0C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E840-9D3C-FCAB-AFFE-05E1FF3A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77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2BF280-65A7-6753-C51C-1E2C1351A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14C68-090B-AEE0-D622-C9D290BC7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C9A35-C26F-7F72-CDAC-C5235A0B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1653-FD56-392C-3E9F-32D3915D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4F79-A0A4-604A-F7B7-84F8145F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51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B2DA-6A1F-ABED-E3A8-52586CD3F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69E8D-4E38-DC59-ACF4-A8012CA39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27D6-E10F-E02C-2E52-7250C872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FCE1A-A6A6-5B5B-AC7B-B102B0C5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37EFC-0FFD-D271-68BE-E1154164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026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5486-8833-D29A-C376-F0C72402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4B1F-86FF-D4D7-0C24-02DDE4DB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CCBF-97B1-2B0D-C5B5-1B7AACC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BB66-1533-BB45-EBE7-D4D59AFE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F07F-5244-D7EA-B857-A5DF5971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356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2DC0-CC40-A08E-5DDB-85FBCBC8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D9F73-6EBF-D5BC-439E-006C7087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D9C3-872E-37A6-6966-185EBF21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BE52F-FAA2-223A-2FCE-40C47E2C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11D50-922D-1DE8-917C-A3931180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641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48BB-EB8F-56BB-A8DB-902650DC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E445-808E-D2D8-99A0-7D08D4F00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E9938-FCC9-E000-DB18-52A44F27F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38832-6ABA-5C61-79BA-1CD251B2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9B765-49E7-9951-90C2-695B36CD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0948-1C7E-11EB-0C82-A6172383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972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2A28-F4F4-7B70-865A-DDAFFD10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C4322-68AA-8DA9-074D-EF87FFA6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F39CF-6304-4DF5-3245-14010E37C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AC0AC-BB28-CA9B-D780-F23AEFECF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08ED6-7E1A-FEB4-450F-F20EABAF6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D8B05-2720-B045-CA30-84BDE4DA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A8055-6E29-14C2-2386-99AA9179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97C69-C3DD-2D22-98DA-3D95E97E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530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54AB-C445-CE73-BB9F-E82B08ED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41F5E-2A58-2994-6EB0-9B4C0A2A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D7A3E-5EB1-F79D-A8B7-B5AA272B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F46FC-E099-7931-76B2-E60C9A2E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782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01050-AC9A-F640-F228-7CF292F6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112B4-BCB0-DE15-DD29-881EFA67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DC9D-4ADC-F3C6-8DBD-0C5EFB50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6223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B8A8-F7CD-80C2-94AA-53CD8F61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7782-06E6-0209-2F2D-6BB09338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535CA-C15A-A263-2673-6E21A3442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FD550-0B99-7F90-11C9-12E7D608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826DD-3181-65CF-FC01-2EF77FDF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5CC22-76B0-132A-3B1C-21BAC263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002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2156-046E-BA01-134F-B85028D0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FDAAE-1C70-45F0-D2B0-CB02ABB9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241F3-FF67-BF54-65AB-0D71F43BB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7BBA5-DE3E-8A9A-1404-34DD3B52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4C49F-543B-F6F2-3326-C5850D28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A0968-C07F-344B-A540-65F4DD03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7733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BAE0-5302-73F0-9608-5F20D3455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05C13-61D4-8300-49E0-20088EB9D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6A95-952F-23C6-7455-29A6015E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1AF31-DFD7-FF37-D543-D6B5EB0C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E840-9D3C-FCAB-AFFE-05E1FF3A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019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2BF280-65A7-6753-C51C-1E2C1351A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14C68-090B-AEE0-D622-C9D290BC7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C9A35-C26F-7F72-CDAC-C5235A0B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1653-FD56-392C-3E9F-32D3915D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4F79-A0A4-604A-F7B7-84F8145F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245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5333E-6900-7841-53D6-37186BC8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2D552-1BBE-AE44-521F-5C2B2A95C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90D7A-9A26-0C8B-A978-04A81B357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654AC-AA1B-2345-F70F-15BA7C570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1790-E29D-5C10-A185-BFC1AE17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1CD0A77-8F98-0C5F-B8E1-85FB3569C13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4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6300"/>
                    </a14:imgEffect>
                    <a14:imgEffect>
                      <a14:saturation sa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0" t="10101" r="7967" b="6802"/>
          <a:stretch>
            <a:fillRect/>
          </a:stretch>
        </p:blipFill>
        <p:spPr>
          <a:xfrm rot="2054607">
            <a:off x="9089867" y="5595424"/>
            <a:ext cx="2310816" cy="17599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657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5333E-6900-7841-53D6-37186BC8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2D552-1BBE-AE44-521F-5C2B2A95C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90D7A-9A26-0C8B-A978-04A81B357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654AC-AA1B-2345-F70F-15BA7C570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1790-E29D-5C10-A185-BFC1AE17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1CD0A77-8F98-0C5F-B8E1-85FB3569C13D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4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6300"/>
                    </a14:imgEffect>
                    <a14:imgEffect>
                      <a14:saturation sa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0" t="10101" r="7967" b="6802"/>
          <a:stretch>
            <a:fillRect/>
          </a:stretch>
        </p:blipFill>
        <p:spPr>
          <a:xfrm rot="2054607">
            <a:off x="9790131" y="5651466"/>
            <a:ext cx="2019249" cy="1537847"/>
          </a:xfrm>
          <a:prstGeom prst="rect">
            <a:avLst/>
          </a:prstGeom>
          <a:noFill/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BC32C51-03A6-8082-E5F5-C47175F11E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4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6300"/>
                    </a14:imgEffect>
                    <a14:imgEffect>
                      <a14:saturation sa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0" t="10101" r="7967" b="6802"/>
          <a:stretch>
            <a:fillRect/>
          </a:stretch>
        </p:blipFill>
        <p:spPr>
          <a:xfrm rot="2054607">
            <a:off x="9089867" y="5595424"/>
            <a:ext cx="2310816" cy="17599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1594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F7C6281-546D-97BA-2D5C-54F7958656A1}"/>
              </a:ext>
            </a:extLst>
          </p:cNvPr>
          <p:cNvSpPr/>
          <p:nvPr/>
        </p:nvSpPr>
        <p:spPr>
          <a:xfrm>
            <a:off x="3216000" y="189000"/>
            <a:ext cx="6256020" cy="5974080"/>
          </a:xfrm>
          <a:prstGeom prst="flowChartConnector">
            <a:avLst/>
          </a:prstGeom>
          <a:gradFill flip="none" rotWithShape="1">
            <a:gsLst>
              <a:gs pos="100000">
                <a:schemeClr val="accent2">
                  <a:lumMod val="20000"/>
                  <a:lumOff val="80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  <a:gs pos="500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95000">
                <a:schemeClr val="accent1">
                  <a:shade val="100000"/>
                  <a:satMod val="115000"/>
                </a:schemeClr>
              </a:gs>
            </a:gsLst>
            <a:lin ang="5400000" scaled="0"/>
            <a:tileRect/>
          </a:gradFill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A33D1-3B2C-FAB2-F576-0287340A1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4700" y="1129004"/>
            <a:ext cx="6021300" cy="3267736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4800" dirty="0">
                <a:solidFill>
                  <a:schemeClr val="bg1"/>
                </a:solidFill>
              </a:rPr>
              <a:t>Execution Architecture Overview</a:t>
            </a:r>
            <a:br>
              <a:rPr lang="en-IN" sz="4800" dirty="0">
                <a:solidFill>
                  <a:schemeClr val="bg1"/>
                </a:solidFill>
              </a:rPr>
            </a:b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 Transformation at Northstar Digital Group</a:t>
            </a:r>
            <a:br>
              <a:rPr lang="en-IN" sz="4800" dirty="0">
                <a:solidFill>
                  <a:schemeClr val="bg1"/>
                </a:solidFill>
              </a:rPr>
            </a:b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7542A-60C5-B98A-FDE5-A8B123414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670" y="4419600"/>
            <a:ext cx="3611882" cy="579120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Translating business architecture into executable initiatives</a:t>
            </a:r>
            <a:endParaRPr lang="en-IN" sz="3200" dirty="0">
              <a:solidFill>
                <a:schemeClr val="bg1"/>
              </a:solidFill>
            </a:endParaRP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B9BB8CB7-1FAC-ECE1-C3C2-F5D463821095}"/>
              </a:ext>
            </a:extLst>
          </p:cNvPr>
          <p:cNvCxnSpPr>
            <a:cxnSpLocks/>
          </p:cNvCxnSpPr>
          <p:nvPr/>
        </p:nvCxnSpPr>
        <p:spPr>
          <a:xfrm>
            <a:off x="1615440" y="6400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426A66B6-2B87-7C01-5A92-985D13022792}"/>
              </a:ext>
            </a:extLst>
          </p:cNvPr>
          <p:cNvCxnSpPr>
            <a:cxnSpLocks/>
          </p:cNvCxnSpPr>
          <p:nvPr/>
        </p:nvCxnSpPr>
        <p:spPr>
          <a:xfrm>
            <a:off x="1013460" y="9448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2E8CD61-D9EA-3353-2BAA-5756E0FF6029}"/>
              </a:ext>
            </a:extLst>
          </p:cNvPr>
          <p:cNvCxnSpPr>
            <a:cxnSpLocks/>
          </p:cNvCxnSpPr>
          <p:nvPr/>
        </p:nvCxnSpPr>
        <p:spPr>
          <a:xfrm>
            <a:off x="556260" y="12496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3036F7E-FE50-67C1-146A-E79F40AF220C}"/>
              </a:ext>
            </a:extLst>
          </p:cNvPr>
          <p:cNvCxnSpPr>
            <a:cxnSpLocks/>
          </p:cNvCxnSpPr>
          <p:nvPr/>
        </p:nvCxnSpPr>
        <p:spPr>
          <a:xfrm>
            <a:off x="10477500" y="42367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45B97D4F-1F4B-C1A8-1553-4202AE75C63D}"/>
              </a:ext>
            </a:extLst>
          </p:cNvPr>
          <p:cNvCxnSpPr>
            <a:cxnSpLocks/>
          </p:cNvCxnSpPr>
          <p:nvPr/>
        </p:nvCxnSpPr>
        <p:spPr>
          <a:xfrm>
            <a:off x="9875520" y="45415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C95EB2F-0858-99F9-F412-3A249DAD45E1}"/>
              </a:ext>
            </a:extLst>
          </p:cNvPr>
          <p:cNvCxnSpPr>
            <a:cxnSpLocks/>
          </p:cNvCxnSpPr>
          <p:nvPr/>
        </p:nvCxnSpPr>
        <p:spPr>
          <a:xfrm>
            <a:off x="9418320" y="48463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B1806E6-45DB-39EE-42D7-523A6FEB1BEF}"/>
              </a:ext>
            </a:extLst>
          </p:cNvPr>
          <p:cNvCxnSpPr>
            <a:cxnSpLocks/>
          </p:cNvCxnSpPr>
          <p:nvPr/>
        </p:nvCxnSpPr>
        <p:spPr>
          <a:xfrm>
            <a:off x="3067050" y="3665220"/>
            <a:ext cx="914400" cy="914400"/>
          </a:xfrm>
          <a:prstGeom prst="curvedConnector3">
            <a:avLst>
              <a:gd name="adj1" fmla="val -75001"/>
            </a:avLst>
          </a:prstGeom>
          <a:ln w="228600">
            <a:solidFill>
              <a:schemeClr val="accent2">
                <a:lumMod val="75000"/>
              </a:schemeClr>
            </a:solidFill>
            <a:tailEnd type="triangle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E5B677-5C86-4C22-0771-91FA85E71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740" y="117919"/>
            <a:ext cx="1661160" cy="166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F82C92-844C-5AEA-478A-3EA6BEF7DC8C}"/>
              </a:ext>
            </a:extLst>
          </p:cNvPr>
          <p:cNvSpPr txBox="1"/>
          <p:nvPr/>
        </p:nvSpPr>
        <p:spPr>
          <a:xfrm>
            <a:off x="0" y="6334780"/>
            <a:ext cx="12055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Disclaimer: Fictional Enterprise Case Study for Portfolio Demonstration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649347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BAE8FF-6368-223A-594A-F2984F397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7372D-3AA3-FDE4-AFAB-3519E5752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703350"/>
            <a:ext cx="3108979" cy="2805649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Enable rapid, repeatable delivery of business workloads by removing infrastructure and process bottlenecks.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70303DF-4D7C-6BF1-5B4F-682419A8B1D4}"/>
              </a:ext>
            </a:extLst>
          </p:cNvPr>
          <p:cNvSpPr/>
          <p:nvPr/>
        </p:nvSpPr>
        <p:spPr>
          <a:xfrm>
            <a:off x="598220" y="388620"/>
            <a:ext cx="1125778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Execution View – Demand-to-Deployment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E0310-ADDC-51E6-FD51-EC35A351C02C}"/>
              </a:ext>
            </a:extLst>
          </p:cNvPr>
          <p:cNvSpPr txBox="1"/>
          <p:nvPr/>
        </p:nvSpPr>
        <p:spPr>
          <a:xfrm>
            <a:off x="336000" y="1224070"/>
            <a:ext cx="3108979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dirty="0"/>
              <a:t>Execution Objective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B0EADF-D7B6-3F7B-3997-BE96D1CC0490}"/>
              </a:ext>
            </a:extLst>
          </p:cNvPr>
          <p:cNvSpPr txBox="1">
            <a:spLocks/>
          </p:cNvSpPr>
          <p:nvPr/>
        </p:nvSpPr>
        <p:spPr>
          <a:xfrm>
            <a:off x="3576000" y="1666562"/>
            <a:ext cx="5171024" cy="2842437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lnSpcReduction="10000"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r>
              <a:rPr lang="en-US" dirty="0"/>
              <a:t>Standardized environment provisioning patterns</a:t>
            </a:r>
          </a:p>
          <a:p>
            <a:pPr lvl="1"/>
            <a:r>
              <a:rPr lang="en-US" dirty="0"/>
              <a:t>Delivery pipeline enablement and automation</a:t>
            </a:r>
          </a:p>
          <a:p>
            <a:pPr lvl="1"/>
            <a:r>
              <a:rPr lang="en-US" dirty="0"/>
              <a:t>Architecture and design governance checkpoints</a:t>
            </a:r>
          </a:p>
          <a:p>
            <a:pPr lvl="1"/>
            <a:r>
              <a:rPr lang="en-US" dirty="0"/>
              <a:t>Integrated security and compliance validation</a:t>
            </a:r>
          </a:p>
          <a:p>
            <a:pPr lvl="1"/>
            <a:r>
              <a:rPr lang="en-US" dirty="0"/>
              <a:t>Release readiness and deployment controls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0A25A-40EA-6855-DE4D-74C22E847BF0}"/>
              </a:ext>
            </a:extLst>
          </p:cNvPr>
          <p:cNvSpPr txBox="1"/>
          <p:nvPr/>
        </p:nvSpPr>
        <p:spPr>
          <a:xfrm>
            <a:off x="3576000" y="1187283"/>
            <a:ext cx="5171024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dirty="0"/>
              <a:t>Key </a:t>
            </a:r>
            <a:r>
              <a:rPr lang="en-IN"/>
              <a:t>Execution Initiatives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021A46E-C27C-16E2-9C7D-B2061ABF867F}"/>
              </a:ext>
            </a:extLst>
          </p:cNvPr>
          <p:cNvSpPr txBox="1">
            <a:spLocks/>
          </p:cNvSpPr>
          <p:nvPr/>
        </p:nvSpPr>
        <p:spPr>
          <a:xfrm>
            <a:off x="8976000" y="1643473"/>
            <a:ext cx="2880000" cy="2865526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r>
              <a:rPr lang="en-US" dirty="0"/>
              <a:t>Platform Team: </a:t>
            </a:r>
          </a:p>
          <a:p>
            <a:pPr lvl="1"/>
            <a:r>
              <a:rPr lang="en-US" dirty="0"/>
              <a:t>Shared delivery foundations and patterns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Product Teams:</a:t>
            </a:r>
          </a:p>
          <a:p>
            <a:pPr lvl="1"/>
            <a:r>
              <a:rPr lang="en-US" dirty="0"/>
              <a:t>Workload build and release 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E95349-6504-4CD2-6874-635AE567C9FA}"/>
              </a:ext>
            </a:extLst>
          </p:cNvPr>
          <p:cNvSpPr txBox="1"/>
          <p:nvPr/>
        </p:nvSpPr>
        <p:spPr>
          <a:xfrm>
            <a:off x="8976000" y="1165532"/>
            <a:ext cx="288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/>
              <a:t>Primary Ownership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18F28E2-A038-69AC-ED35-46FBF70434B5}"/>
              </a:ext>
            </a:extLst>
          </p:cNvPr>
          <p:cNvSpPr txBox="1">
            <a:spLocks/>
          </p:cNvSpPr>
          <p:nvPr/>
        </p:nvSpPr>
        <p:spPr>
          <a:xfrm>
            <a:off x="336000" y="5122689"/>
            <a:ext cx="5748199" cy="1690201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r>
              <a:rPr lang="en-US" dirty="0"/>
              <a:t>Cloud platform foundations established</a:t>
            </a:r>
          </a:p>
          <a:p>
            <a:pPr lvl="1"/>
            <a:r>
              <a:rPr lang="en-US" dirty="0"/>
              <a:t>Identity, security, and network guardrails in place</a:t>
            </a:r>
          </a:p>
          <a:p>
            <a:pPr lvl="1"/>
            <a:r>
              <a:rPr lang="en-US" dirty="0"/>
              <a:t>Operating model roles defined and adopted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860613-4301-B377-46DE-546E0707189C}"/>
              </a:ext>
            </a:extLst>
          </p:cNvPr>
          <p:cNvSpPr txBox="1"/>
          <p:nvPr/>
        </p:nvSpPr>
        <p:spPr>
          <a:xfrm>
            <a:off x="336001" y="4559989"/>
            <a:ext cx="576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/>
              <a:t>Key Dependencies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0118C2B-864A-A810-7166-A5DB6B0951C8}"/>
              </a:ext>
            </a:extLst>
          </p:cNvPr>
          <p:cNvSpPr txBox="1">
            <a:spLocks/>
          </p:cNvSpPr>
          <p:nvPr/>
        </p:nvSpPr>
        <p:spPr>
          <a:xfrm>
            <a:off x="6456001" y="5054406"/>
            <a:ext cx="5399999" cy="1758484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r>
              <a:rPr lang="en-US" dirty="0"/>
              <a:t>Reduced environment provisioning lead time</a:t>
            </a:r>
          </a:p>
          <a:p>
            <a:pPr lvl="1"/>
            <a:r>
              <a:rPr lang="en-US" dirty="0"/>
              <a:t>Predictable and repeatable releases</a:t>
            </a:r>
          </a:p>
          <a:p>
            <a:pPr lvl="1"/>
            <a:r>
              <a:rPr lang="en-US" dirty="0"/>
              <a:t>Faster response to business demand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D9F5A1-7C2C-DFB0-BA82-8A7D70A1D83F}"/>
              </a:ext>
            </a:extLst>
          </p:cNvPr>
          <p:cNvSpPr txBox="1"/>
          <p:nvPr/>
        </p:nvSpPr>
        <p:spPr>
          <a:xfrm>
            <a:off x="6430784" y="4576465"/>
            <a:ext cx="5425216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dirty="0"/>
              <a:t>Execution Outcomes</a:t>
            </a:r>
          </a:p>
        </p:txBody>
      </p:sp>
    </p:spTree>
    <p:extLst>
      <p:ext uri="{BB962C8B-B14F-4D97-AF65-F5344CB8AC3E}">
        <p14:creationId xmlns:p14="http://schemas.microsoft.com/office/powerpoint/2010/main" val="4182181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7CAEC-BE65-F48A-8FC0-B8D574DA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9D868-8D16-C87E-DA19-FC4202021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703350"/>
            <a:ext cx="2520001" cy="2805649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Ensure workloads operate reliably while continuously improving cost, performance, and resilience.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FCB4626F-4B51-955C-869F-9D2641F921F0}"/>
              </a:ext>
            </a:extLst>
          </p:cNvPr>
          <p:cNvSpPr/>
          <p:nvPr/>
        </p:nvSpPr>
        <p:spPr>
          <a:xfrm>
            <a:off x="336000" y="388620"/>
            <a:ext cx="1152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Execution View – Operate-and-Optimize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FA09F-FE32-EC01-0883-A6CABD3A6ED7}"/>
              </a:ext>
            </a:extLst>
          </p:cNvPr>
          <p:cNvSpPr txBox="1"/>
          <p:nvPr/>
        </p:nvSpPr>
        <p:spPr>
          <a:xfrm>
            <a:off x="336000" y="1224070"/>
            <a:ext cx="2520001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dirty="0"/>
              <a:t>Execution Objective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430529-EA35-C0E8-AB51-E79ABC47FBE2}"/>
              </a:ext>
            </a:extLst>
          </p:cNvPr>
          <p:cNvSpPr txBox="1">
            <a:spLocks/>
          </p:cNvSpPr>
          <p:nvPr/>
        </p:nvSpPr>
        <p:spPr>
          <a:xfrm>
            <a:off x="2987021" y="1666562"/>
            <a:ext cx="5760000" cy="2842437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r>
              <a:rPr lang="en-US" dirty="0"/>
              <a:t>Centralized monitoring and observability enablement</a:t>
            </a:r>
          </a:p>
          <a:p>
            <a:pPr lvl="1"/>
            <a:r>
              <a:rPr lang="en-US" dirty="0"/>
              <a:t>Incident, problem, and service management practices</a:t>
            </a:r>
          </a:p>
          <a:p>
            <a:pPr lvl="1"/>
            <a:r>
              <a:rPr lang="en-US" dirty="0"/>
              <a:t>Capacity and performance optimization routines</a:t>
            </a:r>
          </a:p>
          <a:p>
            <a:pPr lvl="1"/>
            <a:r>
              <a:rPr lang="en-US" dirty="0"/>
              <a:t>Cost visibility, reporting, and optimization practices</a:t>
            </a:r>
          </a:p>
          <a:p>
            <a:pPr lvl="1"/>
            <a:r>
              <a:rPr lang="en-US" dirty="0"/>
              <a:t>Continuous service improvement cycles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5BFD8B-F885-7188-ADDA-85089F2E60CA}"/>
              </a:ext>
            </a:extLst>
          </p:cNvPr>
          <p:cNvSpPr txBox="1"/>
          <p:nvPr/>
        </p:nvSpPr>
        <p:spPr>
          <a:xfrm>
            <a:off x="2987021" y="1187283"/>
            <a:ext cx="576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dirty="0"/>
              <a:t>Key Execution Initiatives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46874C-6CF4-802B-DEF9-5781E8D46D24}"/>
              </a:ext>
            </a:extLst>
          </p:cNvPr>
          <p:cNvSpPr txBox="1">
            <a:spLocks/>
          </p:cNvSpPr>
          <p:nvPr/>
        </p:nvSpPr>
        <p:spPr>
          <a:xfrm>
            <a:off x="8976000" y="1643473"/>
            <a:ext cx="2880000" cy="2842437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lnSpcReduction="10000"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r>
              <a:rPr lang="en-US" dirty="0"/>
              <a:t>Operations Enablement Team:</a:t>
            </a:r>
            <a:br>
              <a:rPr lang="en-US" dirty="0"/>
            </a:br>
            <a:r>
              <a:rPr lang="en-US" dirty="0"/>
              <a:t>Shared operational tooling and practices</a:t>
            </a:r>
          </a:p>
          <a:p>
            <a:pPr lvl="1"/>
            <a:r>
              <a:rPr lang="en-US" dirty="0"/>
              <a:t>Product Teams:</a:t>
            </a:r>
          </a:p>
          <a:p>
            <a:pPr lvl="1"/>
            <a:r>
              <a:rPr lang="en-US" dirty="0"/>
              <a:t>Day-to-day workload operations and optimization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97100-4638-5103-13D6-21DE9342E3C6}"/>
              </a:ext>
            </a:extLst>
          </p:cNvPr>
          <p:cNvSpPr txBox="1"/>
          <p:nvPr/>
        </p:nvSpPr>
        <p:spPr>
          <a:xfrm>
            <a:off x="8976000" y="1165532"/>
            <a:ext cx="288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/>
              <a:t>Primary Ownership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697B0EA-C401-E05C-83BA-AA666A974A3D}"/>
              </a:ext>
            </a:extLst>
          </p:cNvPr>
          <p:cNvSpPr txBox="1">
            <a:spLocks/>
          </p:cNvSpPr>
          <p:nvPr/>
        </p:nvSpPr>
        <p:spPr>
          <a:xfrm>
            <a:off x="336000" y="5122689"/>
            <a:ext cx="5748199" cy="1546311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r>
              <a:rPr lang="en-US" dirty="0"/>
              <a:t>Monitoring and logging foundations in place</a:t>
            </a:r>
          </a:p>
          <a:p>
            <a:pPr lvl="1"/>
            <a:r>
              <a:rPr lang="en-US" dirty="0"/>
              <a:t>Cost allocation and visibility mechanisms established</a:t>
            </a:r>
          </a:p>
          <a:p>
            <a:pPr lvl="1"/>
            <a:r>
              <a:rPr lang="en-US" dirty="0"/>
              <a:t>Clear operational ownership per workload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1F9C3F-72E3-CCC5-539D-E727124FF796}"/>
              </a:ext>
            </a:extLst>
          </p:cNvPr>
          <p:cNvSpPr txBox="1"/>
          <p:nvPr/>
        </p:nvSpPr>
        <p:spPr>
          <a:xfrm>
            <a:off x="336001" y="4559989"/>
            <a:ext cx="576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/>
              <a:t>Key Dependencies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55312F7-5212-1D9A-A490-B80443A68520}"/>
              </a:ext>
            </a:extLst>
          </p:cNvPr>
          <p:cNvSpPr txBox="1">
            <a:spLocks/>
          </p:cNvSpPr>
          <p:nvPr/>
        </p:nvSpPr>
        <p:spPr>
          <a:xfrm>
            <a:off x="6456001" y="5054406"/>
            <a:ext cx="5399999" cy="1614594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r>
              <a:rPr lang="en-US" dirty="0"/>
              <a:t>Improved availability and recovery times</a:t>
            </a:r>
          </a:p>
          <a:p>
            <a:pPr lvl="1"/>
            <a:r>
              <a:rPr lang="en-US" dirty="0"/>
              <a:t>Reduced operational disruptions</a:t>
            </a:r>
          </a:p>
          <a:p>
            <a:pPr lvl="1"/>
            <a:r>
              <a:rPr lang="en-US" dirty="0"/>
              <a:t>Increased cost efficiency and predictability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1325F4-D13E-03B9-4C16-A688DC65B227}"/>
              </a:ext>
            </a:extLst>
          </p:cNvPr>
          <p:cNvSpPr txBox="1"/>
          <p:nvPr/>
        </p:nvSpPr>
        <p:spPr>
          <a:xfrm>
            <a:off x="6430784" y="4576465"/>
            <a:ext cx="5425216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dirty="0"/>
              <a:t>Execution Outcomes</a:t>
            </a:r>
          </a:p>
        </p:txBody>
      </p:sp>
    </p:spTree>
    <p:extLst>
      <p:ext uri="{BB962C8B-B14F-4D97-AF65-F5344CB8AC3E}">
        <p14:creationId xmlns:p14="http://schemas.microsoft.com/office/powerpoint/2010/main" val="3477193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3E78B-718E-4DD3-E432-EFBBA5A64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245F5-AE7D-8C37-919D-AAF939F1F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1" y="1703350"/>
            <a:ext cx="2160000" cy="2805649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sz="1800" dirty="0">
                <a:solidFill>
                  <a:schemeClr val="tx1"/>
                </a:solidFill>
              </a:rPr>
              <a:t>Embed governance, security, and compliance into cloud execution without slowing delivery.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F8CD6D83-2452-F5F6-9E64-8F50ECC32A3E}"/>
              </a:ext>
            </a:extLst>
          </p:cNvPr>
          <p:cNvSpPr/>
          <p:nvPr/>
        </p:nvSpPr>
        <p:spPr>
          <a:xfrm>
            <a:off x="336000" y="388620"/>
            <a:ext cx="1152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Execution View – Govern-and-Secure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E416F-F179-95CF-0A54-AB63BF476405}"/>
              </a:ext>
            </a:extLst>
          </p:cNvPr>
          <p:cNvSpPr txBox="1"/>
          <p:nvPr/>
        </p:nvSpPr>
        <p:spPr>
          <a:xfrm>
            <a:off x="336001" y="1224070"/>
            <a:ext cx="216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sz="1600" dirty="0"/>
              <a:t>Execution Objective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B4002B-AEA9-7471-6D14-4BBBA2437395}"/>
              </a:ext>
            </a:extLst>
          </p:cNvPr>
          <p:cNvSpPr txBox="1">
            <a:spLocks/>
          </p:cNvSpPr>
          <p:nvPr/>
        </p:nvSpPr>
        <p:spPr>
          <a:xfrm>
            <a:off x="2627020" y="1666562"/>
            <a:ext cx="5760001" cy="2842437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en-US" dirty="0"/>
              <a:t>Policy-driven governance and control enforcement</a:t>
            </a:r>
          </a:p>
          <a:p>
            <a:pPr lvl="1"/>
            <a:r>
              <a:rPr lang="en-US" dirty="0"/>
              <a:t>Identity and access governance enablement</a:t>
            </a:r>
          </a:p>
          <a:p>
            <a:pPr lvl="1"/>
            <a:r>
              <a:rPr lang="en-US" dirty="0"/>
              <a:t>Risk assessment and exception management processes</a:t>
            </a:r>
          </a:p>
          <a:p>
            <a:pPr lvl="1"/>
            <a:r>
              <a:rPr lang="en-US" dirty="0"/>
              <a:t>Continuous compliance monitoring and reporting</a:t>
            </a:r>
          </a:p>
          <a:p>
            <a:pPr lvl="1"/>
            <a:r>
              <a:rPr lang="en-US" dirty="0"/>
              <a:t>Audit and regulatory support mechanisms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FDFC6-C720-9E89-34B1-95062521DA23}"/>
              </a:ext>
            </a:extLst>
          </p:cNvPr>
          <p:cNvSpPr txBox="1"/>
          <p:nvPr/>
        </p:nvSpPr>
        <p:spPr>
          <a:xfrm>
            <a:off x="2627020" y="1187283"/>
            <a:ext cx="5760001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</a:lstStyle>
          <a:p>
            <a:r>
              <a:rPr lang="en-IN" dirty="0"/>
              <a:t>Key Execution Initiatives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45483BB-9B89-16CD-8C02-C95D93A87011}"/>
              </a:ext>
            </a:extLst>
          </p:cNvPr>
          <p:cNvSpPr txBox="1">
            <a:spLocks/>
          </p:cNvSpPr>
          <p:nvPr/>
        </p:nvSpPr>
        <p:spPr>
          <a:xfrm>
            <a:off x="8616000" y="1643473"/>
            <a:ext cx="3240000" cy="2842437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en-US" dirty="0"/>
              <a:t>Security &amp; Governance Team</a:t>
            </a:r>
            <a:r>
              <a:rPr lang="en-US"/>
              <a:t>: </a:t>
            </a:r>
            <a:r>
              <a:rPr lang="en-US" dirty="0"/>
              <a:t>Policies, standards, and oversight</a:t>
            </a:r>
          </a:p>
          <a:p>
            <a:pPr lvl="1"/>
            <a:r>
              <a:rPr lang="en-US" dirty="0"/>
              <a:t>Platform Team</a:t>
            </a:r>
            <a:r>
              <a:rPr lang="en-US"/>
              <a:t>: </a:t>
            </a:r>
            <a:r>
              <a:rPr lang="en-US" dirty="0"/>
              <a:t>Control enforcement through platforms</a:t>
            </a:r>
          </a:p>
          <a:p>
            <a:pPr lvl="1"/>
            <a:r>
              <a:rPr lang="en-US" dirty="0"/>
              <a:t>Product Teams</a:t>
            </a:r>
            <a:r>
              <a:rPr lang="en-US"/>
              <a:t>: </a:t>
            </a:r>
            <a:r>
              <a:rPr lang="en-US" dirty="0"/>
              <a:t>Compliance with defined guardrails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79413B-3377-33C4-EA78-DFE6A1796E16}"/>
              </a:ext>
            </a:extLst>
          </p:cNvPr>
          <p:cNvSpPr txBox="1"/>
          <p:nvPr/>
        </p:nvSpPr>
        <p:spPr>
          <a:xfrm>
            <a:off x="8616000" y="1165532"/>
            <a:ext cx="324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</a:lstStyle>
          <a:p>
            <a:r>
              <a:rPr lang="en-IN"/>
              <a:t>Primary Ownership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595EC9-6723-FBF1-7473-861F9971C686}"/>
              </a:ext>
            </a:extLst>
          </p:cNvPr>
          <p:cNvSpPr txBox="1">
            <a:spLocks/>
          </p:cNvSpPr>
          <p:nvPr/>
        </p:nvSpPr>
        <p:spPr>
          <a:xfrm>
            <a:off x="336000" y="5122689"/>
            <a:ext cx="5748199" cy="1546311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en-US" dirty="0"/>
              <a:t>Governance and security standards defined</a:t>
            </a:r>
          </a:p>
          <a:p>
            <a:pPr lvl="1"/>
            <a:r>
              <a:rPr lang="en-US" dirty="0"/>
              <a:t>Control enforcement mechanisms implemented</a:t>
            </a:r>
          </a:p>
          <a:p>
            <a:pPr lvl="1"/>
            <a:r>
              <a:rPr lang="en-US" dirty="0"/>
              <a:t>Risk and compliance workflows agreed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E0689-7BE3-69ED-145A-835116609D37}"/>
              </a:ext>
            </a:extLst>
          </p:cNvPr>
          <p:cNvSpPr txBox="1"/>
          <p:nvPr/>
        </p:nvSpPr>
        <p:spPr>
          <a:xfrm>
            <a:off x="336001" y="4559989"/>
            <a:ext cx="576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</a:lstStyle>
          <a:p>
            <a:r>
              <a:rPr lang="en-IN"/>
              <a:t>Key Dependencies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83FD9B3-8A04-C173-73D9-74A673D3CC2E}"/>
              </a:ext>
            </a:extLst>
          </p:cNvPr>
          <p:cNvSpPr txBox="1">
            <a:spLocks/>
          </p:cNvSpPr>
          <p:nvPr/>
        </p:nvSpPr>
        <p:spPr>
          <a:xfrm>
            <a:off x="6456001" y="5054406"/>
            <a:ext cx="5399999" cy="1614594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en-US" dirty="0"/>
              <a:t>Consistent security posture across workloads</a:t>
            </a:r>
          </a:p>
          <a:p>
            <a:pPr lvl="1"/>
            <a:r>
              <a:rPr lang="en-US" dirty="0"/>
              <a:t>Faster compliance validation</a:t>
            </a:r>
          </a:p>
          <a:p>
            <a:pPr lvl="1"/>
            <a:r>
              <a:rPr lang="en-US" dirty="0"/>
              <a:t>Reduced audit effort and risk exposure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0D22F3-2FFE-418C-51C9-8A08106C7BE1}"/>
              </a:ext>
            </a:extLst>
          </p:cNvPr>
          <p:cNvSpPr txBox="1"/>
          <p:nvPr/>
        </p:nvSpPr>
        <p:spPr>
          <a:xfrm>
            <a:off x="6430784" y="4576465"/>
            <a:ext cx="5425216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</a:lstStyle>
          <a:p>
            <a:r>
              <a:rPr lang="en-IN" dirty="0"/>
              <a:t>Execution Outcomes</a:t>
            </a:r>
          </a:p>
        </p:txBody>
      </p:sp>
    </p:spTree>
    <p:extLst>
      <p:ext uri="{BB962C8B-B14F-4D97-AF65-F5344CB8AC3E}">
        <p14:creationId xmlns:p14="http://schemas.microsoft.com/office/powerpoint/2010/main" val="2563638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B22D4-9A87-EF85-5737-5FF5184B7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EBDC9-E642-0EFA-94A0-75733D7A7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1" y="1703350"/>
            <a:ext cx="2160000" cy="2805649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sz="1800" dirty="0">
                <a:solidFill>
                  <a:schemeClr val="tx1"/>
                </a:solidFill>
              </a:rPr>
              <a:t>Build sustainable enterprise capability for ongoing digital innovation and evolution.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B4A6E3BC-EBDD-DD91-BCEC-731B34E45129}"/>
              </a:ext>
            </a:extLst>
          </p:cNvPr>
          <p:cNvSpPr/>
          <p:nvPr/>
        </p:nvSpPr>
        <p:spPr>
          <a:xfrm>
            <a:off x="336000" y="388620"/>
            <a:ext cx="1152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Execution View – Enable-and-Innovate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7F5141-DC28-A9EE-C708-DC780BB12B5C}"/>
              </a:ext>
            </a:extLst>
          </p:cNvPr>
          <p:cNvSpPr txBox="1"/>
          <p:nvPr/>
        </p:nvSpPr>
        <p:spPr>
          <a:xfrm>
            <a:off x="336001" y="1224070"/>
            <a:ext cx="216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</a:lstStyle>
          <a:p>
            <a:r>
              <a:rPr lang="en-IN" dirty="0"/>
              <a:t>Execution Objective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55E445-378C-6C05-6665-1A58F76B87AC}"/>
              </a:ext>
            </a:extLst>
          </p:cNvPr>
          <p:cNvSpPr txBox="1">
            <a:spLocks/>
          </p:cNvSpPr>
          <p:nvPr/>
        </p:nvSpPr>
        <p:spPr>
          <a:xfrm>
            <a:off x="2627020" y="1666562"/>
            <a:ext cx="5760001" cy="2842437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en-US" dirty="0"/>
              <a:t>Platform capability enablement for innovation use cases</a:t>
            </a:r>
          </a:p>
          <a:p>
            <a:pPr lvl="1"/>
            <a:r>
              <a:rPr lang="en-US" dirty="0"/>
              <a:t>Skill development and operating model evolution</a:t>
            </a:r>
          </a:p>
          <a:p>
            <a:pPr lvl="1"/>
            <a:r>
              <a:rPr lang="en-US" dirty="0"/>
              <a:t>Tooling and automation enablement for experimentation</a:t>
            </a:r>
          </a:p>
          <a:p>
            <a:pPr lvl="1"/>
            <a:r>
              <a:rPr lang="en-US" dirty="0"/>
              <a:t>Innovation pilots and proof-of-value initiatives</a:t>
            </a:r>
          </a:p>
          <a:p>
            <a:pPr lvl="1"/>
            <a:r>
              <a:rPr lang="en-US" dirty="0"/>
              <a:t>Industrialization of successful initiatives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9F1F2-7D72-EF21-AC1A-FE5F6E0288E1}"/>
              </a:ext>
            </a:extLst>
          </p:cNvPr>
          <p:cNvSpPr txBox="1"/>
          <p:nvPr/>
        </p:nvSpPr>
        <p:spPr>
          <a:xfrm>
            <a:off x="2627020" y="1187283"/>
            <a:ext cx="5760001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</a:lstStyle>
          <a:p>
            <a:r>
              <a:rPr lang="en-IN" dirty="0"/>
              <a:t>Key </a:t>
            </a:r>
            <a:r>
              <a:rPr lang="en-IN"/>
              <a:t>Execution Initiatives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12CAC9-3E56-7C16-8600-4328C5E3D370}"/>
              </a:ext>
            </a:extLst>
          </p:cNvPr>
          <p:cNvSpPr txBox="1">
            <a:spLocks/>
          </p:cNvSpPr>
          <p:nvPr/>
        </p:nvSpPr>
        <p:spPr>
          <a:xfrm>
            <a:off x="8616000" y="1643473"/>
            <a:ext cx="3240000" cy="2842437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en-US" dirty="0"/>
              <a:t>Enablement Team: </a:t>
            </a:r>
            <a:br>
              <a:rPr lang="en-US" dirty="0"/>
            </a:br>
            <a:r>
              <a:rPr lang="en-US" dirty="0"/>
              <a:t>Platforms, skills, and innovation frameworks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Product Teams: Experimentation and adoption of new capabilities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80EA00-4426-53D4-425A-DCE4A506010E}"/>
              </a:ext>
            </a:extLst>
          </p:cNvPr>
          <p:cNvSpPr txBox="1"/>
          <p:nvPr/>
        </p:nvSpPr>
        <p:spPr>
          <a:xfrm>
            <a:off x="8616000" y="1165532"/>
            <a:ext cx="3240000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</a:lstStyle>
          <a:p>
            <a:r>
              <a:rPr lang="en-IN"/>
              <a:t>Primary Ownership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BD5B3E4-8A44-5E23-0559-48EA6B0B082B}"/>
              </a:ext>
            </a:extLst>
          </p:cNvPr>
          <p:cNvSpPr txBox="1">
            <a:spLocks/>
          </p:cNvSpPr>
          <p:nvPr/>
        </p:nvSpPr>
        <p:spPr>
          <a:xfrm>
            <a:off x="336000" y="5122690"/>
            <a:ext cx="5748199" cy="1551898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en-US" dirty="0"/>
              <a:t>Stable platform and governance foundations</a:t>
            </a:r>
          </a:p>
          <a:p>
            <a:pPr lvl="1"/>
            <a:r>
              <a:rPr lang="en-US" dirty="0"/>
              <a:t>Skills and enablement programs in place</a:t>
            </a:r>
          </a:p>
          <a:p>
            <a:pPr lvl="1"/>
            <a:r>
              <a:rPr lang="en-US" dirty="0"/>
              <a:t>Leadership support for experimentation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A11E92-C2D9-F31E-B72F-74EF6A320342}"/>
              </a:ext>
            </a:extLst>
          </p:cNvPr>
          <p:cNvSpPr txBox="1"/>
          <p:nvPr/>
        </p:nvSpPr>
        <p:spPr>
          <a:xfrm>
            <a:off x="336001" y="4559989"/>
            <a:ext cx="576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</a:lstStyle>
          <a:p>
            <a:r>
              <a:rPr lang="en-IN"/>
              <a:t>Key Dependencies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44FC994-6E59-9ADA-ABE9-48CE37D7B985}"/>
              </a:ext>
            </a:extLst>
          </p:cNvPr>
          <p:cNvSpPr txBox="1">
            <a:spLocks/>
          </p:cNvSpPr>
          <p:nvPr/>
        </p:nvSpPr>
        <p:spPr>
          <a:xfrm>
            <a:off x="6456001" y="5054406"/>
            <a:ext cx="5399999" cy="1614594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en-US" dirty="0"/>
              <a:t>Faster experimentation with controlled risk</a:t>
            </a:r>
          </a:p>
          <a:p>
            <a:pPr lvl="1"/>
            <a:r>
              <a:rPr lang="en-US" dirty="0"/>
              <a:t>Reduced time to scale successful ideas</a:t>
            </a:r>
          </a:p>
          <a:p>
            <a:pPr lvl="1"/>
            <a:r>
              <a:rPr lang="en-US" dirty="0"/>
              <a:t>Sustainable innovation capability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FBADCF-62AE-B407-BD94-D982B679836E}"/>
              </a:ext>
            </a:extLst>
          </p:cNvPr>
          <p:cNvSpPr txBox="1"/>
          <p:nvPr/>
        </p:nvSpPr>
        <p:spPr>
          <a:xfrm>
            <a:off x="6430784" y="4576465"/>
            <a:ext cx="5425216" cy="47928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600" b="1"/>
            </a:lvl1pPr>
          </a:lstStyle>
          <a:p>
            <a:r>
              <a:rPr lang="en-IN" dirty="0"/>
              <a:t>Execution Outcomes</a:t>
            </a:r>
          </a:p>
        </p:txBody>
      </p:sp>
    </p:spTree>
    <p:extLst>
      <p:ext uri="{BB962C8B-B14F-4D97-AF65-F5344CB8AC3E}">
        <p14:creationId xmlns:p14="http://schemas.microsoft.com/office/powerpoint/2010/main" val="175748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CDEBD-F44C-3494-8B64-61B06C442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hevron 6">
            <a:extLst>
              <a:ext uri="{FF2B5EF4-FFF2-40B4-BE49-F238E27FC236}">
                <a16:creationId xmlns:a16="http://schemas.microsoft.com/office/drawing/2014/main" id="{8622FE78-24C3-8F74-0F30-B5E3764EC146}"/>
              </a:ext>
            </a:extLst>
          </p:cNvPr>
          <p:cNvSpPr/>
          <p:nvPr/>
        </p:nvSpPr>
        <p:spPr>
          <a:xfrm>
            <a:off x="525780" y="388620"/>
            <a:ext cx="10995971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Execution Summary – From Strategy to Delivery</a:t>
            </a:r>
            <a:endParaRPr lang="en-US" sz="3200" dirty="0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9D2A35E5-5051-7BA8-9519-D6BE9D70C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7324841"/>
              </p:ext>
            </p:extLst>
          </p:nvPr>
        </p:nvGraphicFramePr>
        <p:xfrm>
          <a:off x="525780" y="1269001"/>
          <a:ext cx="10610219" cy="4042836"/>
        </p:xfrm>
        <a:graphic>
          <a:graphicData uri="http://schemas.openxmlformats.org/drawingml/2006/table">
            <a:tbl>
              <a:tblPr/>
              <a:tblGrid>
                <a:gridCol w="3994682">
                  <a:extLst>
                    <a:ext uri="{9D8B030D-6E8A-4147-A177-3AD203B41FA5}">
                      <a16:colId xmlns:a16="http://schemas.microsoft.com/office/drawing/2014/main" val="1653229519"/>
                    </a:ext>
                  </a:extLst>
                </a:gridCol>
                <a:gridCol w="2437303">
                  <a:extLst>
                    <a:ext uri="{9D8B030D-6E8A-4147-A177-3AD203B41FA5}">
                      <a16:colId xmlns:a16="http://schemas.microsoft.com/office/drawing/2014/main" val="3835879589"/>
                    </a:ext>
                  </a:extLst>
                </a:gridCol>
                <a:gridCol w="4178234">
                  <a:extLst>
                    <a:ext uri="{9D8B030D-6E8A-4147-A177-3AD203B41FA5}">
                      <a16:colId xmlns:a16="http://schemas.microsoft.com/office/drawing/2014/main" val="1079463398"/>
                    </a:ext>
                  </a:extLst>
                </a:gridCol>
              </a:tblGrid>
              <a:tr h="2968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</a:rPr>
                        <a:t>Execution Initiative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</a:rPr>
                        <a:t>Primary Value Stream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Roadmap Phase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643985"/>
                  </a:ext>
                </a:extLst>
              </a:tr>
              <a:tr h="51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Standardized environment provisioning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Demand-to-Deployment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Phase 1 – Foundation &amp; Stabilization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247564"/>
                  </a:ext>
                </a:extLst>
              </a:tr>
              <a:tr h="296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Delivery automation enablement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Demand-to-Deployment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Phase 1 → Phase 2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19292"/>
                  </a:ext>
                </a:extLst>
              </a:tr>
              <a:tr h="51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Policy-driven governance enforcement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Govern-and-Secure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Phase 1 – Foundation &amp; Stabilization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983875"/>
                  </a:ext>
                </a:extLst>
              </a:tr>
              <a:tr h="51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Monitoring &amp; observability enablement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Operate-and-Optimize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Phase 2 – Standardization &amp; Scale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067273"/>
                  </a:ext>
                </a:extLst>
              </a:tr>
              <a:tr h="51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Cost visibility &amp; optimization framework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Operate-and-Optimize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Phase 2 → Phase 3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473738"/>
                  </a:ext>
                </a:extLst>
              </a:tr>
              <a:tr h="296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Platform capability enablement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Enable-and-Innovate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Phase 2 – Standardization &amp; Scale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199953"/>
                  </a:ext>
                </a:extLst>
              </a:tr>
              <a:tr h="51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Innovation pilots &amp; experimentation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Enable-and-Innovate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Phase 3 – Optimization &amp; Innovation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033401"/>
                  </a:ext>
                </a:extLst>
              </a:tr>
              <a:tr h="51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Industrialization of successful initiatives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Enable-and-Innovate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Phase 3 – Optimization &amp; Innovation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342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374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2422</TotalTime>
  <Words>545</Words>
  <Application>Microsoft Office PowerPoint</Application>
  <PresentationFormat>Widescreen</PresentationFormat>
  <Paragraphs>126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1_Office Theme</vt:lpstr>
      <vt:lpstr>Execution Architecture Overview Cloud Transformation at Northstar Digital Group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Sambhav Pandey</dc:creator>
  <cp:lastModifiedBy>Sambhav Pandey</cp:lastModifiedBy>
  <cp:revision>79</cp:revision>
  <dcterms:created xsi:type="dcterms:W3CDTF">2025-12-13T13:21:05Z</dcterms:created>
  <dcterms:modified xsi:type="dcterms:W3CDTF">2025-12-23T02:30:55Z</dcterms:modified>
</cp:coreProperties>
</file>